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77FDEB-68C0-4C12-AD4D-F4B8976BB019}">
  <a:tblStyle styleId="{5077FDEB-68C0-4C12-AD4D-F4B8976BB0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68110f08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f68110f08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f68110f08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68110f08c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6" name="Google Shape;686;g3f68110f08c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[~0.4 min | Presenter: All]</a:t>
            </a:r>
            <a:br>
              <a:rPr lang="en-US"/>
            </a:br>
            <a:br>
              <a:rPr lang="en-US"/>
            </a:br>
            <a:r>
              <a:rPr lang="en-US"/>
              <a:t>That wraps up our presentation. To recap the whole pipeline in one breath: we cleaned and explored a single-lead ECG dataset, built 45 features across four categories, trained a cost-weighted XGBoost model against a Random Forest baseline, and ran seven different tests to check accuracy, calibration, generalization, noise tolerance, fairness, and explainability. All of our code, data pipeline, and the full written report are on GitHub. We're happy to take your questions.</a:t>
            </a:r>
            <a:endParaRPr/>
          </a:p>
          <a:p>
            <a:pPr indent="0" lvl="0" marL="0" rtl="0" algn="l">
              <a:spcBef>
                <a:spcPts val="0"/>
              </a:spcBef>
              <a:spcAft>
                <a:spcPts val="0"/>
              </a:spcAft>
              <a:buNone/>
            </a:pPr>
            <a:r>
              <a:t/>
            </a:r>
            <a:endParaRPr/>
          </a:p>
        </p:txBody>
      </p:sp>
      <p:sp>
        <p:nvSpPr>
          <p:cNvPr id="687" name="Google Shape;687;g3f68110f08c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5.jpg"/><Relationship Id="rId5" Type="http://schemas.openxmlformats.org/officeDocument/2006/relationships/image" Target="../media/image46.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grpSp>
        <p:nvGrpSpPr>
          <p:cNvPr id="16" name="Google Shape;16;p3"/>
          <p:cNvGrpSpPr/>
          <p:nvPr/>
        </p:nvGrpSpPr>
        <p:grpSpPr>
          <a:xfrm>
            <a:off x="7229475" y="752475"/>
            <a:ext cx="4210200" cy="5343525"/>
            <a:chOff x="-9525" y="-9525"/>
            <a:chExt cx="4210200" cy="5343525"/>
          </a:xfrm>
        </p:grpSpPr>
        <p:pic>
          <p:nvPicPr>
            <p:cNvPr descr="Sleek abstract digital art representing a glowing cyan ECG heart rhythm wave morphing into a complex neural network structure on a deep navy blue background, high-tech medical artificial intelligence, clean and modern 3d render" id="17" name="Google Shape;17;p3"/>
            <p:cNvPicPr preferRelativeResize="0"/>
            <p:nvPr/>
          </p:nvPicPr>
          <p:blipFill rotWithShape="1">
            <a:blip r:embed="rId4">
              <a:alphaModFix/>
            </a:blip>
            <a:srcRect b="2272" l="0" r="0" t="2272"/>
            <a:stretch/>
          </p:blipFill>
          <p:spPr>
            <a:xfrm>
              <a:off x="0" y="0"/>
              <a:ext cx="4191000" cy="5334000"/>
            </a:xfrm>
            <a:prstGeom prst="roundRect">
              <a:avLst>
                <a:gd fmla="val 4545" name="adj"/>
              </a:avLst>
            </a:prstGeom>
            <a:noFill/>
            <a:ln>
              <a:noFill/>
            </a:ln>
          </p:spPr>
        </p:pic>
        <p:pic>
          <p:nvPicPr>
            <p:cNvPr id="18" name="Google Shape;18;p3"/>
            <p:cNvPicPr preferRelativeResize="0"/>
            <p:nvPr/>
          </p:nvPicPr>
          <p:blipFill rotWithShape="1">
            <a:blip r:embed="rId5">
              <a:alphaModFix/>
            </a:blip>
            <a:srcRect b="0" l="0" r="0" t="0"/>
            <a:stretch/>
          </p:blipFill>
          <p:spPr>
            <a:xfrm>
              <a:off x="-9525" y="-9525"/>
              <a:ext cx="4210200" cy="5153100"/>
            </a:xfrm>
            <a:prstGeom prst="rect">
              <a:avLst/>
            </a:prstGeom>
            <a:noFill/>
            <a:ln>
              <a:noFill/>
            </a:ln>
          </p:spPr>
        </p:pic>
      </p:grpSp>
      <p:sp>
        <p:nvSpPr>
          <p:cNvPr id="19" name="Google Shape;19;p3"/>
          <p:cNvSpPr txBox="1"/>
          <p:nvPr/>
        </p:nvSpPr>
        <p:spPr>
          <a:xfrm>
            <a:off x="952500" y="952500"/>
            <a:ext cx="5715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71BEFF"/>
                </a:solidFill>
                <a:latin typeface="Calibri"/>
                <a:ea typeface="Calibri"/>
                <a:cs typeface="Calibri"/>
                <a:sym typeface="Calibri"/>
              </a:rPr>
              <a:t>AAI-501: Introduction to Artificial Intelligence and Machine Learning</a:t>
            </a:r>
            <a:endParaRPr b="1" sz="1100">
              <a:solidFill>
                <a:srgbClr val="71BEFF"/>
              </a:solidFill>
              <a:latin typeface="Calibri"/>
              <a:ea typeface="Calibri"/>
              <a:cs typeface="Calibri"/>
              <a:sym typeface="Calibri"/>
            </a:endParaRPr>
          </a:p>
          <a:p>
            <a:pPr indent="0" lvl="0" marL="0" rtl="0" algn="l">
              <a:spcBef>
                <a:spcPts val="1800"/>
              </a:spcBef>
              <a:spcAft>
                <a:spcPts val="0"/>
              </a:spcAft>
              <a:buNone/>
            </a:pPr>
            <a:r>
              <a:rPr b="1" lang="en-US" sz="4400">
                <a:solidFill>
                  <a:srgbClr val="FFFFFF"/>
                </a:solidFill>
                <a:latin typeface="Cambria"/>
                <a:ea typeface="Cambria"/>
                <a:cs typeface="Cambria"/>
                <a:sym typeface="Cambria"/>
              </a:rPr>
              <a:t>Cardiac Arrhythmia Classification</a:t>
            </a:r>
            <a:endParaRPr b="1" sz="4400">
              <a:solidFill>
                <a:srgbClr val="FFFFFF"/>
              </a:solidFill>
              <a:latin typeface="Cambria"/>
              <a:ea typeface="Cambria"/>
              <a:cs typeface="Cambria"/>
              <a:sym typeface="Cambria"/>
            </a:endParaRPr>
          </a:p>
          <a:p>
            <a:pPr indent="0" lvl="0" marL="0" rtl="0" algn="l">
              <a:spcBef>
                <a:spcPts val="1500"/>
              </a:spcBef>
              <a:spcAft>
                <a:spcPts val="3000"/>
              </a:spcAft>
              <a:buNone/>
            </a:pPr>
            <a:r>
              <a:rPr b="0" i="1" lang="en-US" sz="1600">
                <a:solidFill>
                  <a:srgbClr val="E2F1FF"/>
                </a:solidFill>
                <a:latin typeface="Calibri"/>
                <a:ea typeface="Calibri"/>
                <a:cs typeface="Calibri"/>
                <a:sym typeface="Calibri"/>
              </a:rPr>
              <a:t>Detecting Irregular Heartbeats from a Single-Lead Wearable ECG Signal Using Machine Learning</a:t>
            </a:r>
            <a:endParaRPr b="0" i="1" sz="1600">
              <a:solidFill>
                <a:srgbClr val="E2F1FF"/>
              </a:solidFill>
              <a:latin typeface="Calibri"/>
              <a:ea typeface="Calibri"/>
              <a:cs typeface="Calibri"/>
              <a:sym typeface="Calibri"/>
            </a:endParaRPr>
          </a:p>
        </p:txBody>
      </p:sp>
      <p:sp>
        <p:nvSpPr>
          <p:cNvPr id="20" name="Google Shape;20;p3"/>
          <p:cNvSpPr txBox="1"/>
          <p:nvPr/>
        </p:nvSpPr>
        <p:spPr>
          <a:xfrm>
            <a:off x="952500" y="4476750"/>
            <a:ext cx="5715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71BEFF"/>
                </a:solidFill>
                <a:latin typeface="Calibri"/>
                <a:ea typeface="Calibri"/>
                <a:cs typeface="Calibri"/>
                <a:sym typeface="Calibri"/>
              </a:rPr>
              <a:t>Presenters:</a:t>
            </a:r>
            <a:r>
              <a:rPr lang="en-US" sz="1150">
                <a:solidFill>
                  <a:srgbClr val="FFFFFF"/>
                </a:solidFill>
                <a:latin typeface="Calibri"/>
                <a:ea typeface="Calibri"/>
                <a:cs typeface="Calibri"/>
                <a:sym typeface="Calibri"/>
              </a:rPr>
              <a:t>Ashok Bhairwal  |  Diaesh Antony  |  N L N Sai Krishna Akula</a:t>
            </a:r>
            <a:endParaRPr sz="1150">
              <a:solidFill>
                <a:srgbClr val="FFFFFF"/>
              </a:solidFill>
              <a:latin typeface="Calibri"/>
              <a:ea typeface="Calibri"/>
              <a:cs typeface="Calibri"/>
              <a:sym typeface="Calibri"/>
            </a:endParaRPr>
          </a:p>
          <a:p>
            <a:pPr indent="0" lvl="0" marL="0" rtl="0" algn="l">
              <a:spcBef>
                <a:spcPts val="900"/>
              </a:spcBef>
              <a:spcAft>
                <a:spcPts val="0"/>
              </a:spcAft>
              <a:buNone/>
            </a:pPr>
            <a:r>
              <a:rPr b="1" lang="en-US" sz="1150">
                <a:solidFill>
                  <a:srgbClr val="71BEFF"/>
                </a:solidFill>
                <a:latin typeface="Calibri"/>
                <a:ea typeface="Calibri"/>
                <a:cs typeface="Calibri"/>
                <a:sym typeface="Calibri"/>
              </a:rPr>
              <a:t>Instructor:</a:t>
            </a:r>
            <a:r>
              <a:rPr lang="en-US" sz="1150">
                <a:solidFill>
                  <a:srgbClr val="FFFFFF"/>
                </a:solidFill>
                <a:latin typeface="Calibri"/>
                <a:ea typeface="Calibri"/>
                <a:cs typeface="Calibri"/>
                <a:sym typeface="Calibri"/>
              </a:rPr>
              <a:t>Dr. Anuj Kumar Sirohi</a:t>
            </a:r>
            <a:endParaRPr sz="1150">
              <a:solidFill>
                <a:srgbClr val="FFFFFF"/>
              </a:solidFill>
              <a:latin typeface="Calibri"/>
              <a:ea typeface="Calibri"/>
              <a:cs typeface="Calibri"/>
              <a:sym typeface="Calibri"/>
            </a:endParaRPr>
          </a:p>
          <a:p>
            <a:pPr indent="0" lvl="0" marL="0" rtl="0" algn="l">
              <a:spcBef>
                <a:spcPts val="900"/>
              </a:spcBef>
              <a:spcAft>
                <a:spcPts val="0"/>
              </a:spcAft>
              <a:buNone/>
            </a:pPr>
            <a:r>
              <a:rPr b="1" lang="en-US" sz="1150">
                <a:solidFill>
                  <a:srgbClr val="71BEFF"/>
                </a:solidFill>
                <a:latin typeface="Calibri"/>
                <a:ea typeface="Calibri"/>
                <a:cs typeface="Calibri"/>
                <a:sym typeface="Calibri"/>
              </a:rPr>
              <a:t>Date:</a:t>
            </a:r>
            <a:r>
              <a:rPr lang="en-US" sz="1150">
                <a:solidFill>
                  <a:srgbClr val="FFFFFF"/>
                </a:solidFill>
                <a:latin typeface="Calibri"/>
                <a:ea typeface="Calibri"/>
                <a:cs typeface="Calibri"/>
                <a:sym typeface="Calibri"/>
              </a:rPr>
              <a:t>August 2026</a:t>
            </a:r>
            <a:endParaRPr sz="1150">
              <a:solidFill>
                <a:srgbClr val="FFFFFF"/>
              </a:solidFill>
              <a:latin typeface="Calibri"/>
              <a:ea typeface="Calibri"/>
              <a:cs typeface="Calibri"/>
              <a:sym typeface="Calibri"/>
            </a:endParaRPr>
          </a:p>
        </p:txBody>
      </p:sp>
      <p:pic>
        <p:nvPicPr>
          <p:cNvPr id="21" name="Google Shape;21;p3"/>
          <p:cNvPicPr preferRelativeResize="0"/>
          <p:nvPr/>
        </p:nvPicPr>
        <p:blipFill rotWithShape="1">
          <a:blip r:embed="rId6">
            <a:alphaModFix/>
          </a:blip>
          <a:srcRect b="0" l="20" r="20" t="0"/>
          <a:stretch/>
        </p:blipFill>
        <p:spPr>
          <a:xfrm>
            <a:off x="952500" y="5810250"/>
            <a:ext cx="1828800" cy="380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4"/>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8" name="Google Shape;28;p4"/>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9" name="Google Shape;29;p4"/>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0" name="Google Shape;30;p4"/>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1" name="Google Shape;31;p4"/>
          <p:cNvSpPr/>
          <p:nvPr/>
        </p:nvSpPr>
        <p:spPr>
          <a:xfrm>
            <a:off x="502920" y="411480"/>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Presentation Outline</a:t>
            </a:r>
            <a:endParaRPr b="0" i="0" sz="2400" u="none" cap="none" strike="noStrike">
              <a:solidFill>
                <a:schemeClr val="dk1"/>
              </a:solidFill>
              <a:latin typeface="Calibri"/>
              <a:ea typeface="Calibri"/>
              <a:cs typeface="Calibri"/>
              <a:sym typeface="Calibri"/>
            </a:endParaRPr>
          </a:p>
        </p:txBody>
      </p:sp>
      <p:sp>
        <p:nvSpPr>
          <p:cNvPr id="32" name="Google Shape;32;p4"/>
          <p:cNvSpPr/>
          <p:nvPr/>
        </p:nvSpPr>
        <p:spPr>
          <a:xfrm>
            <a:off x="502920" y="1417320"/>
            <a:ext cx="11185855" cy="1024128"/>
          </a:xfrm>
          <a:prstGeom prst="roundRect">
            <a:avLst>
              <a:gd fmla="val 625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731520" y="1677924"/>
            <a:ext cx="502920" cy="50292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731520" y="1677924"/>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1463040" y="1527048"/>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600"/>
              <a:buFont typeface="Calibri"/>
              <a:buNone/>
            </a:pPr>
            <a:r>
              <a:rPr b="1" i="0" lang="en-US" sz="1600" u="none" cap="none" strike="noStrike">
                <a:solidFill>
                  <a:srgbClr val="003B70"/>
                </a:solidFill>
                <a:latin typeface="Calibri"/>
                <a:ea typeface="Calibri"/>
                <a:cs typeface="Calibri"/>
                <a:sym typeface="Calibri"/>
              </a:rPr>
              <a:t>Data Preparation &amp; EDA</a:t>
            </a:r>
            <a:endParaRPr b="0" i="0" sz="1600" u="none" cap="none" strike="noStrike">
              <a:solidFill>
                <a:schemeClr val="dk1"/>
              </a:solidFill>
              <a:latin typeface="Calibri"/>
              <a:ea typeface="Calibri"/>
              <a:cs typeface="Calibri"/>
              <a:sym typeface="Calibri"/>
            </a:endParaRPr>
          </a:p>
        </p:txBody>
      </p:sp>
      <p:sp>
        <p:nvSpPr>
          <p:cNvPr id="36" name="Google Shape;36;p4"/>
          <p:cNvSpPr/>
          <p:nvPr/>
        </p:nvSpPr>
        <p:spPr>
          <a:xfrm>
            <a:off x="1463040" y="1920240"/>
            <a:ext cx="6309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50"/>
              <a:buFont typeface="Calibri"/>
              <a:buNone/>
            </a:pPr>
            <a:r>
              <a:rPr b="0" i="0" lang="en-US" sz="1150" u="none" cap="none" strike="noStrike">
                <a:solidFill>
                  <a:srgbClr val="1E1E1E"/>
                </a:solidFill>
                <a:latin typeface="Calibri"/>
                <a:ea typeface="Calibri"/>
                <a:cs typeface="Calibri"/>
                <a:sym typeface="Calibri"/>
              </a:rPr>
              <a:t>PTB-XL profiling, CARE-I signal hygiene, quality/imputation diagnostics</a:t>
            </a:r>
            <a:endParaRPr b="0" i="0" sz="1150" u="none" cap="none" strike="noStrike">
              <a:solidFill>
                <a:schemeClr val="dk1"/>
              </a:solidFill>
              <a:latin typeface="Calibri"/>
              <a:ea typeface="Calibri"/>
              <a:cs typeface="Calibri"/>
              <a:sym typeface="Calibri"/>
            </a:endParaRPr>
          </a:p>
        </p:txBody>
      </p:sp>
      <p:sp>
        <p:nvSpPr>
          <p:cNvPr id="37" name="Google Shape;37;p4"/>
          <p:cNvSpPr/>
          <p:nvPr/>
        </p:nvSpPr>
        <p:spPr>
          <a:xfrm>
            <a:off x="9311335" y="1723644"/>
            <a:ext cx="2377440" cy="411480"/>
          </a:xfrm>
          <a:prstGeom prst="roundRect">
            <a:avLst>
              <a:gd fmla="val 22222" name="adj"/>
            </a:avLst>
          </a:prstGeom>
          <a:solidFill>
            <a:srgbClr val="FFFFFF"/>
          </a:solidFill>
          <a:ln cap="flat" cmpd="sng" w="12700">
            <a:solidFill>
              <a:srgbClr val="007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9311335" y="1723644"/>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200"/>
              <a:buFont typeface="Calibri"/>
              <a:buNone/>
            </a:pPr>
            <a:r>
              <a:rPr b="1" i="0" lang="en-US" sz="1200" u="none" cap="none" strike="noStrike">
                <a:solidFill>
                  <a:srgbClr val="0070B9"/>
                </a:solidFill>
                <a:latin typeface="Calibri"/>
                <a:ea typeface="Calibri"/>
                <a:cs typeface="Calibri"/>
                <a:sym typeface="Calibri"/>
              </a:rPr>
              <a:t>Ashok</a:t>
            </a:r>
            <a:endParaRPr b="0" i="0" sz="1200" u="none" cap="none" strike="noStrike">
              <a:solidFill>
                <a:schemeClr val="dk1"/>
              </a:solidFill>
              <a:latin typeface="Calibri"/>
              <a:ea typeface="Calibri"/>
              <a:cs typeface="Calibri"/>
              <a:sym typeface="Calibri"/>
            </a:endParaRPr>
          </a:p>
        </p:txBody>
      </p:sp>
      <p:sp>
        <p:nvSpPr>
          <p:cNvPr id="39" name="Google Shape;39;p4"/>
          <p:cNvSpPr/>
          <p:nvPr/>
        </p:nvSpPr>
        <p:spPr>
          <a:xfrm>
            <a:off x="502920" y="2569464"/>
            <a:ext cx="11185855" cy="1024128"/>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731520" y="2830068"/>
            <a:ext cx="502920" cy="50292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731520" y="28300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42" name="Google Shape;42;p4"/>
          <p:cNvSpPr/>
          <p:nvPr/>
        </p:nvSpPr>
        <p:spPr>
          <a:xfrm>
            <a:off x="1463040" y="2679192"/>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600"/>
              <a:buFont typeface="Calibri"/>
              <a:buNone/>
            </a:pPr>
            <a:r>
              <a:rPr b="1" i="0" lang="en-US" sz="1600" u="none" cap="none" strike="noStrike">
                <a:solidFill>
                  <a:srgbClr val="003B70"/>
                </a:solidFill>
                <a:latin typeface="Calibri"/>
                <a:ea typeface="Calibri"/>
                <a:cs typeface="Calibri"/>
                <a:sym typeface="Calibri"/>
              </a:rPr>
              <a:t>Feature Engineering</a:t>
            </a:r>
            <a:endParaRPr b="0" i="0" sz="1600" u="none" cap="none" strike="noStrike">
              <a:solidFill>
                <a:schemeClr val="dk1"/>
              </a:solidFill>
              <a:latin typeface="Calibri"/>
              <a:ea typeface="Calibri"/>
              <a:cs typeface="Calibri"/>
              <a:sym typeface="Calibri"/>
            </a:endParaRPr>
          </a:p>
        </p:txBody>
      </p:sp>
      <p:sp>
        <p:nvSpPr>
          <p:cNvPr id="43" name="Google Shape;43;p4"/>
          <p:cNvSpPr/>
          <p:nvPr/>
        </p:nvSpPr>
        <p:spPr>
          <a:xfrm>
            <a:off x="1463040" y="3072384"/>
            <a:ext cx="6309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50"/>
              <a:buFont typeface="Calibri"/>
              <a:buNone/>
            </a:pPr>
            <a:r>
              <a:rPr b="0" i="0" lang="en-US" sz="1150" u="none" cap="none" strike="noStrike">
                <a:solidFill>
                  <a:srgbClr val="1E1E1E"/>
                </a:solidFill>
                <a:latin typeface="Calibri"/>
                <a:ea typeface="Calibri"/>
                <a:cs typeface="Calibri"/>
                <a:sym typeface="Calibri"/>
              </a:rPr>
              <a:t>45 features across 4 categories; diagnostic separation evidence</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9311335" y="2875788"/>
            <a:ext cx="2377440" cy="411480"/>
          </a:xfrm>
          <a:prstGeom prst="roundRect">
            <a:avLst>
              <a:gd fmla="val 22222" name="adj"/>
            </a:avLst>
          </a:prstGeom>
          <a:solidFill>
            <a:srgbClr val="FFFFFF"/>
          </a:solidFill>
          <a:ln cap="flat" cmpd="sng" w="12700">
            <a:solidFill>
              <a:srgbClr val="007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9311335" y="2875788"/>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200"/>
              <a:buFont typeface="Calibri"/>
              <a:buNone/>
            </a:pPr>
            <a:r>
              <a:rPr b="1" i="0" lang="en-US" sz="1200" u="none" cap="none" strike="noStrike">
                <a:solidFill>
                  <a:srgbClr val="0070B9"/>
                </a:solidFill>
                <a:latin typeface="Calibri"/>
                <a:ea typeface="Calibri"/>
                <a:cs typeface="Calibri"/>
                <a:sym typeface="Calibri"/>
              </a:rPr>
              <a:t>Diaesh</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502920" y="3721608"/>
            <a:ext cx="11185855" cy="1024128"/>
          </a:xfrm>
          <a:prstGeom prst="roundRect">
            <a:avLst>
              <a:gd fmla="val 625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731520" y="3982212"/>
            <a:ext cx="502920" cy="50292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731520" y="3982212"/>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49" name="Google Shape;49;p4"/>
          <p:cNvSpPr/>
          <p:nvPr/>
        </p:nvSpPr>
        <p:spPr>
          <a:xfrm>
            <a:off x="1463040" y="3831336"/>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600"/>
              <a:buFont typeface="Calibri"/>
              <a:buNone/>
            </a:pPr>
            <a:r>
              <a:rPr b="1" i="0" lang="en-US" sz="1600" u="none" cap="none" strike="noStrike">
                <a:solidFill>
                  <a:srgbClr val="003B70"/>
                </a:solidFill>
                <a:latin typeface="Calibri"/>
                <a:ea typeface="Calibri"/>
                <a:cs typeface="Calibri"/>
                <a:sym typeface="Calibri"/>
              </a:rPr>
              <a:t>Model Selection &amp; Training</a:t>
            </a:r>
            <a:endParaRPr b="0" i="0" sz="1600" u="none" cap="none" strike="noStrike">
              <a:solidFill>
                <a:schemeClr val="dk1"/>
              </a:solidFill>
              <a:latin typeface="Calibri"/>
              <a:ea typeface="Calibri"/>
              <a:cs typeface="Calibri"/>
              <a:sym typeface="Calibri"/>
            </a:endParaRPr>
          </a:p>
        </p:txBody>
      </p:sp>
      <p:sp>
        <p:nvSpPr>
          <p:cNvPr id="50" name="Google Shape;50;p4"/>
          <p:cNvSpPr/>
          <p:nvPr/>
        </p:nvSpPr>
        <p:spPr>
          <a:xfrm>
            <a:off x="1463040" y="4224528"/>
            <a:ext cx="6309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50"/>
              <a:buFont typeface="Calibri"/>
              <a:buNone/>
            </a:pPr>
            <a:r>
              <a:rPr b="0" i="0" lang="en-US" sz="1150" u="none" cap="none" strike="noStrike">
                <a:solidFill>
                  <a:srgbClr val="1E1E1E"/>
                </a:solidFill>
                <a:latin typeface="Calibri"/>
                <a:ea typeface="Calibri"/>
                <a:cs typeface="Calibri"/>
                <a:sym typeface="Calibri"/>
              </a:rPr>
              <a:t>Random Forest baseline, cost-weighted XGBoost, multi-label architecture</a:t>
            </a:r>
            <a:endParaRPr b="0" i="0" sz="1150" u="none" cap="none" strike="noStrike">
              <a:solidFill>
                <a:schemeClr val="dk1"/>
              </a:solidFill>
              <a:latin typeface="Calibri"/>
              <a:ea typeface="Calibri"/>
              <a:cs typeface="Calibri"/>
              <a:sym typeface="Calibri"/>
            </a:endParaRPr>
          </a:p>
        </p:txBody>
      </p:sp>
      <p:sp>
        <p:nvSpPr>
          <p:cNvPr id="51" name="Google Shape;51;p4"/>
          <p:cNvSpPr/>
          <p:nvPr/>
        </p:nvSpPr>
        <p:spPr>
          <a:xfrm>
            <a:off x="9311335" y="4027932"/>
            <a:ext cx="2377440" cy="411480"/>
          </a:xfrm>
          <a:prstGeom prst="roundRect">
            <a:avLst>
              <a:gd fmla="val 22222" name="adj"/>
            </a:avLst>
          </a:prstGeom>
          <a:solidFill>
            <a:srgbClr val="FFFFFF"/>
          </a:solidFill>
          <a:ln cap="flat" cmpd="sng" w="12700">
            <a:solidFill>
              <a:srgbClr val="007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9311335" y="4027932"/>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200"/>
              <a:buFont typeface="Calibri"/>
              <a:buNone/>
            </a:pPr>
            <a:r>
              <a:rPr b="1" i="0" lang="en-US" sz="1200" u="none" cap="none" strike="noStrike">
                <a:solidFill>
                  <a:srgbClr val="0070B9"/>
                </a:solidFill>
                <a:latin typeface="Calibri"/>
                <a:ea typeface="Calibri"/>
                <a:cs typeface="Calibri"/>
                <a:sym typeface="Calibri"/>
              </a:rPr>
              <a:t>Diaesh</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502920" y="4873752"/>
            <a:ext cx="11185855" cy="1024128"/>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731520" y="5134356"/>
            <a:ext cx="502920" cy="50292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731520" y="513435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56" name="Google Shape;56;p4"/>
          <p:cNvSpPr/>
          <p:nvPr/>
        </p:nvSpPr>
        <p:spPr>
          <a:xfrm>
            <a:off x="1463040" y="4983480"/>
            <a:ext cx="6309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600"/>
              <a:buFont typeface="Calibri"/>
              <a:buNone/>
            </a:pPr>
            <a:r>
              <a:rPr b="1" i="0" lang="en-US" sz="1600" u="none" cap="none" strike="noStrike">
                <a:solidFill>
                  <a:srgbClr val="003B70"/>
                </a:solidFill>
                <a:latin typeface="Calibri"/>
                <a:ea typeface="Calibri"/>
                <a:cs typeface="Calibri"/>
                <a:sym typeface="Calibri"/>
              </a:rPr>
              <a:t>Model Diagnostics</a:t>
            </a:r>
            <a:endParaRPr b="0" i="0" sz="1600" u="none" cap="none" strike="noStrike">
              <a:solidFill>
                <a:schemeClr val="dk1"/>
              </a:solidFill>
              <a:latin typeface="Calibri"/>
              <a:ea typeface="Calibri"/>
              <a:cs typeface="Calibri"/>
              <a:sym typeface="Calibri"/>
            </a:endParaRPr>
          </a:p>
        </p:txBody>
      </p:sp>
      <p:sp>
        <p:nvSpPr>
          <p:cNvPr id="57" name="Google Shape;57;p4"/>
          <p:cNvSpPr/>
          <p:nvPr/>
        </p:nvSpPr>
        <p:spPr>
          <a:xfrm>
            <a:off x="1463040" y="5376672"/>
            <a:ext cx="6309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50"/>
              <a:buFont typeface="Calibri"/>
              <a:buNone/>
            </a:pPr>
            <a:r>
              <a:rPr b="0" i="0" lang="en-US" sz="1150" u="none" cap="none" strike="noStrike">
                <a:solidFill>
                  <a:srgbClr val="1E1E1E"/>
                </a:solidFill>
                <a:latin typeface="Calibri"/>
                <a:ea typeface="Calibri"/>
                <a:cs typeface="Calibri"/>
                <a:sym typeface="Calibri"/>
              </a:rPr>
              <a:t>Validation/test metrics, threshold tuning, calibration, robustness, fairness, SHAP</a:t>
            </a:r>
            <a:endParaRPr b="0" i="0" sz="1150" u="none" cap="none" strike="noStrike">
              <a:solidFill>
                <a:schemeClr val="dk1"/>
              </a:solidFill>
              <a:latin typeface="Calibri"/>
              <a:ea typeface="Calibri"/>
              <a:cs typeface="Calibri"/>
              <a:sym typeface="Calibri"/>
            </a:endParaRPr>
          </a:p>
        </p:txBody>
      </p:sp>
      <p:sp>
        <p:nvSpPr>
          <p:cNvPr id="58" name="Google Shape;58;p4"/>
          <p:cNvSpPr/>
          <p:nvPr/>
        </p:nvSpPr>
        <p:spPr>
          <a:xfrm>
            <a:off x="9311335" y="5180076"/>
            <a:ext cx="2377440" cy="411480"/>
          </a:xfrm>
          <a:prstGeom prst="roundRect">
            <a:avLst>
              <a:gd fmla="val 22222" name="adj"/>
            </a:avLst>
          </a:prstGeom>
          <a:solidFill>
            <a:srgbClr val="FFFFFF"/>
          </a:solidFill>
          <a:ln cap="flat" cmpd="sng" w="12700">
            <a:solidFill>
              <a:srgbClr val="0070B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9311335" y="5180076"/>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200"/>
              <a:buFont typeface="Calibri"/>
              <a:buNone/>
            </a:pPr>
            <a:r>
              <a:rPr b="1" i="0" lang="en-US" sz="1200" u="none" cap="none" strike="noStrike">
                <a:solidFill>
                  <a:srgbClr val="0070B9"/>
                </a:solidFill>
                <a:latin typeface="Calibri"/>
                <a:ea typeface="Calibri"/>
                <a:cs typeface="Calibri"/>
                <a:sym typeface="Calibri"/>
              </a:rPr>
              <a:t>Sai Krishna</a:t>
            </a:r>
            <a:endParaRPr b="0" i="0" sz="1200" u="none" cap="none" strike="noStrike">
              <a:solidFill>
                <a:schemeClr val="dk1"/>
              </a:solidFill>
              <a:latin typeface="Calibri"/>
              <a:ea typeface="Calibri"/>
              <a:cs typeface="Calibri"/>
              <a:sym typeface="Calibri"/>
            </a:endParaRPr>
          </a:p>
        </p:txBody>
      </p:sp>
      <p:sp>
        <p:nvSpPr>
          <p:cNvPr id="60" name="Google Shape;60;p4"/>
          <p:cNvSpPr/>
          <p:nvPr/>
        </p:nvSpPr>
        <p:spPr>
          <a:xfrm>
            <a:off x="502920" y="6135615"/>
            <a:ext cx="11185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000"/>
              <a:buFont typeface="Calibri"/>
              <a:buNone/>
            </a:pPr>
            <a:r>
              <a:rPr b="0" i="1" lang="en-US" sz="1000" u="none" cap="none" strike="noStrike">
                <a:solidFill>
                  <a:srgbClr val="898989"/>
                </a:solidFill>
                <a:latin typeface="Calibri"/>
                <a:ea typeface="Calibri"/>
                <a:cs typeface="Calibri"/>
                <a:sym typeface="Calibri"/>
              </a:rPr>
              <a:t>Anchor paper: Sadiq et al. (2025), IEEE J. Biomedical and Health Informatics · Dataset: PhysioNet PTB-XL v1.0.3 (Wagner et al., 2020) · github.com/abhairwal-usd/intro_ai_ml_aai501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5"/>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7" name="Google Shape;67;p5"/>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8" name="Google Shape;68;p5"/>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9" name="Google Shape;69;p5"/>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502920" y="274320"/>
            <a:ext cx="1653235"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502920" y="274320"/>
            <a:ext cx="1653235"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INTRODUCTION · 1.1</a:t>
            </a:r>
            <a:endParaRPr b="0" i="0" sz="1000" u="none" cap="none" strike="noStrike">
              <a:solidFill>
                <a:schemeClr val="dk1"/>
              </a:solidFill>
              <a:latin typeface="Calibri"/>
              <a:ea typeface="Calibri"/>
              <a:cs typeface="Calibri"/>
              <a:sym typeface="Calibri"/>
            </a:endParaRPr>
          </a:p>
        </p:txBody>
      </p:sp>
      <p:sp>
        <p:nvSpPr>
          <p:cNvPr id="72" name="Google Shape;72;p5"/>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Business Context and Clinical Objectives</a:t>
            </a:r>
            <a:endParaRPr b="0" i="0" sz="2400" u="none" cap="none" strike="noStrike">
              <a:solidFill>
                <a:schemeClr val="dk1"/>
              </a:solidFill>
              <a:latin typeface="Calibri"/>
              <a:ea typeface="Calibri"/>
              <a:cs typeface="Calibri"/>
              <a:sym typeface="Calibri"/>
            </a:endParaRPr>
          </a:p>
        </p:txBody>
      </p:sp>
      <p:sp>
        <p:nvSpPr>
          <p:cNvPr id="73" name="Google Shape;73;p5"/>
          <p:cNvSpPr/>
          <p:nvPr/>
        </p:nvSpPr>
        <p:spPr>
          <a:xfrm>
            <a:off x="502920" y="1508760"/>
            <a:ext cx="5212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500"/>
              <a:buFont typeface="Calibri"/>
              <a:buNone/>
            </a:pPr>
            <a:r>
              <a:rPr b="1" i="0" lang="en-US" sz="1500" u="none" cap="none" strike="noStrike">
                <a:solidFill>
                  <a:srgbClr val="0070B9"/>
                </a:solidFill>
                <a:latin typeface="Calibri"/>
                <a:ea typeface="Calibri"/>
                <a:cs typeface="Calibri"/>
                <a:sym typeface="Calibri"/>
              </a:rPr>
              <a:t>Clinical Motivation</a:t>
            </a:r>
            <a:endParaRPr b="0" i="0" sz="1500" u="none" cap="none" strike="noStrike">
              <a:solidFill>
                <a:schemeClr val="dk1"/>
              </a:solidFill>
              <a:latin typeface="Calibri"/>
              <a:ea typeface="Calibri"/>
              <a:cs typeface="Calibri"/>
              <a:sym typeface="Calibri"/>
            </a:endParaRPr>
          </a:p>
        </p:txBody>
      </p:sp>
      <p:sp>
        <p:nvSpPr>
          <p:cNvPr id="74" name="Google Shape;74;p5"/>
          <p:cNvSpPr/>
          <p:nvPr/>
        </p:nvSpPr>
        <p:spPr>
          <a:xfrm>
            <a:off x="502920" y="1920240"/>
            <a:ext cx="5212080" cy="30175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Early identification of cardiac arrhythmias is critical for preventing life-threatening sequelae, including ischemic stroke and heart failure.</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The clinical gold standard, the 12-lead ECG, captures comprehensive spatial electrical vectors but requires clinic visits, specialized equipment, and trained personnel — yielding only brief diagnostic snapshots.</a:t>
            </a:r>
            <a:endParaRPr b="0" i="0" sz="1300" u="none" cap="none" strike="noStrike">
              <a:solidFill>
                <a:schemeClr val="dk1"/>
              </a:solidFill>
              <a:latin typeface="Calibri"/>
              <a:ea typeface="Calibri"/>
              <a:cs typeface="Calibri"/>
              <a:sym typeface="Calibri"/>
            </a:endParaRPr>
          </a:p>
        </p:txBody>
      </p:sp>
      <p:sp>
        <p:nvSpPr>
          <p:cNvPr id="75" name="Google Shape;75;p5"/>
          <p:cNvSpPr/>
          <p:nvPr/>
        </p:nvSpPr>
        <p:spPr>
          <a:xfrm>
            <a:off x="6172200" y="1508760"/>
            <a:ext cx="5212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500"/>
              <a:buFont typeface="Calibri"/>
              <a:buNone/>
            </a:pPr>
            <a:r>
              <a:rPr b="1" i="0" lang="en-US" sz="1500" u="none" cap="none" strike="noStrike">
                <a:solidFill>
                  <a:srgbClr val="0070B9"/>
                </a:solidFill>
                <a:latin typeface="Calibri"/>
                <a:ea typeface="Calibri"/>
                <a:cs typeface="Calibri"/>
                <a:sym typeface="Calibri"/>
              </a:rPr>
              <a:t>Wearable Screening Constraints</a:t>
            </a:r>
            <a:endParaRPr b="0" i="0" sz="1500" u="none" cap="none" strike="noStrike">
              <a:solidFill>
                <a:schemeClr val="dk1"/>
              </a:solidFill>
              <a:latin typeface="Calibri"/>
              <a:ea typeface="Calibri"/>
              <a:cs typeface="Calibri"/>
              <a:sym typeface="Calibri"/>
            </a:endParaRPr>
          </a:p>
        </p:txBody>
      </p:sp>
      <p:sp>
        <p:nvSpPr>
          <p:cNvPr id="76" name="Google Shape;76;p5"/>
          <p:cNvSpPr/>
          <p:nvPr/>
        </p:nvSpPr>
        <p:spPr>
          <a:xfrm>
            <a:off x="6172200" y="1920240"/>
            <a:ext cx="5212080" cy="30175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Consumer wearables (smartwatches, ambulatory patches) enable continuous single-lead (Lead-I) tracking in free-living environments, recording the potential difference between the left and right arms.</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Automated classifiers for Lead-I signals must overcome: missing spatial vectors, severe class imbalance between healthy and pathological beats, motion artifacts, and patient-level overfitting.</a:t>
            </a:r>
            <a:endParaRPr b="0" i="0" sz="1300" u="none" cap="none" strike="noStrike">
              <a:solidFill>
                <a:schemeClr val="dk1"/>
              </a:solidFill>
              <a:latin typeface="Calibri"/>
              <a:ea typeface="Calibri"/>
              <a:cs typeface="Calibri"/>
              <a:sym typeface="Calibri"/>
            </a:endParaRPr>
          </a:p>
        </p:txBody>
      </p:sp>
      <p:sp>
        <p:nvSpPr>
          <p:cNvPr id="77" name="Google Shape;77;p5"/>
          <p:cNvSpPr/>
          <p:nvPr/>
        </p:nvSpPr>
        <p:spPr>
          <a:xfrm>
            <a:off x="502920" y="5349240"/>
            <a:ext cx="11185855" cy="594360"/>
          </a:xfrm>
          <a:prstGeom prst="roundRect">
            <a:avLst>
              <a:gd fmla="val 9231" name="adj"/>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685800" y="5349240"/>
            <a:ext cx="1082009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1" lang="en-US" sz="1250" u="none" cap="none" strike="noStrike">
                <a:solidFill>
                  <a:srgbClr val="FFFFFF"/>
                </a:solidFill>
                <a:latin typeface="Calibri"/>
                <a:ea typeface="Calibri"/>
                <a:cs typeface="Calibri"/>
                <a:sym typeface="Calibri"/>
              </a:rPr>
              <a:t>Project source code and pipeline: github.com/abhairwal-usd/intro_ai_ml_aai501</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85" name="Google Shape;85;p6"/>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86" name="Google Shape;86;p6"/>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87" name="Google Shape;87;p6"/>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88" name="Google Shape;88;p6"/>
          <p:cNvSpPr/>
          <p:nvPr/>
        </p:nvSpPr>
        <p:spPr>
          <a:xfrm>
            <a:off x="502920" y="274320"/>
            <a:ext cx="1653235"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502920" y="274320"/>
            <a:ext cx="1653235"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INTRODUCTION · 1.2</a:t>
            </a:r>
            <a:endParaRPr b="0" i="0" sz="1000" u="none" cap="none" strike="noStrike">
              <a:solidFill>
                <a:schemeClr val="dk1"/>
              </a:solidFill>
              <a:latin typeface="Calibri"/>
              <a:ea typeface="Calibri"/>
              <a:cs typeface="Calibri"/>
              <a:sym typeface="Calibri"/>
            </a:endParaRPr>
          </a:p>
        </p:txBody>
      </p:sp>
      <p:sp>
        <p:nvSpPr>
          <p:cNvPr id="90" name="Google Shape;90;p6"/>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Anchor Paper Alignment and Research Questions</a:t>
            </a:r>
            <a:endParaRPr b="0" i="0" sz="2400" u="none" cap="none" strike="noStrike">
              <a:solidFill>
                <a:schemeClr val="dk1"/>
              </a:solidFill>
              <a:latin typeface="Calibri"/>
              <a:ea typeface="Calibri"/>
              <a:cs typeface="Calibri"/>
              <a:sym typeface="Calibri"/>
            </a:endParaRPr>
          </a:p>
        </p:txBody>
      </p:sp>
      <p:sp>
        <p:nvSpPr>
          <p:cNvPr id="91" name="Google Shape;91;p6"/>
          <p:cNvSpPr/>
          <p:nvPr/>
        </p:nvSpPr>
        <p:spPr>
          <a:xfrm>
            <a:off x="502920" y="1463040"/>
            <a:ext cx="1118585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1" lang="en-US" sz="1300" u="none" cap="none" strike="noStrike">
                <a:solidFill>
                  <a:srgbClr val="1E1E1E"/>
                </a:solidFill>
                <a:latin typeface="Calibri"/>
                <a:ea typeface="Calibri"/>
                <a:cs typeface="Calibri"/>
                <a:sym typeface="Calibri"/>
              </a:rPr>
              <a:t>Research design builds upon the single-lead benchmark established by Sadiq et al. (2025), IEEE Journal of Biomedical and Health Informatics. Four research questions were addressed:</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502920" y="2103120"/>
            <a:ext cx="5394960" cy="1481328"/>
          </a:xfrm>
          <a:prstGeom prst="roundRect">
            <a:avLst>
              <a:gd fmla="val 4938"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85800" y="2267712"/>
            <a:ext cx="457200" cy="45720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685800" y="226771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RQ1</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1280160" y="2231136"/>
            <a:ext cx="4434840" cy="122529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E1E1E"/>
              </a:buClr>
              <a:buSzPts val="1180"/>
              <a:buFont typeface="Calibri"/>
              <a:buNone/>
            </a:pPr>
            <a:r>
              <a:rPr b="0" i="0" lang="en-US" sz="1180" u="none" cap="none" strike="noStrike">
                <a:solidFill>
                  <a:srgbClr val="1E1E1E"/>
                </a:solidFill>
                <a:latin typeface="Calibri"/>
                <a:ea typeface="Calibri"/>
                <a:cs typeface="Calibri"/>
                <a:sym typeface="Calibri"/>
              </a:rPr>
              <a:t>Can 45 signal-derived morphological, timing, and spectral features extracted from Lead-I signals achieve robust multi-label discrimination across seven cardiac rhythm conditions?</a:t>
            </a:r>
            <a:endParaRPr b="0" i="0" sz="1180" u="none" cap="none" strike="noStrike">
              <a:solidFill>
                <a:schemeClr val="dk1"/>
              </a:solidFill>
              <a:latin typeface="Calibri"/>
              <a:ea typeface="Calibri"/>
              <a:cs typeface="Calibri"/>
              <a:sym typeface="Calibri"/>
            </a:endParaRPr>
          </a:p>
        </p:txBody>
      </p:sp>
      <p:sp>
        <p:nvSpPr>
          <p:cNvPr id="96" name="Google Shape;96;p6"/>
          <p:cNvSpPr/>
          <p:nvPr/>
        </p:nvSpPr>
        <p:spPr>
          <a:xfrm>
            <a:off x="6263640" y="2103120"/>
            <a:ext cx="5394960" cy="1481328"/>
          </a:xfrm>
          <a:prstGeom prst="roundRect">
            <a:avLst>
              <a:gd fmla="val 4938"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6446520" y="2267712"/>
            <a:ext cx="457200" cy="45720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446520" y="226771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RQ2</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7040880" y="2231136"/>
            <a:ext cx="4434840" cy="122529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E1E1E"/>
              </a:buClr>
              <a:buSzPts val="1180"/>
              <a:buFont typeface="Calibri"/>
              <a:buNone/>
            </a:pPr>
            <a:r>
              <a:rPr b="0" i="0" lang="en-US" sz="1180" u="none" cap="none" strike="noStrike">
                <a:solidFill>
                  <a:srgbClr val="1E1E1E"/>
                </a:solidFill>
                <a:latin typeface="Calibri"/>
                <a:ea typeface="Calibri"/>
                <a:cs typeface="Calibri"/>
                <a:sym typeface="Calibri"/>
              </a:rPr>
              <a:t>How effectively do cost-sensitive positive-class loss weighting and Youden's J threshold tuning resolve sensitivity tradeoffs in rare arrhythmia types?</a:t>
            </a:r>
            <a:endParaRPr b="0" i="0" sz="1180" u="none" cap="none" strike="noStrike">
              <a:solidFill>
                <a:schemeClr val="dk1"/>
              </a:solidFill>
              <a:latin typeface="Calibri"/>
              <a:ea typeface="Calibri"/>
              <a:cs typeface="Calibri"/>
              <a:sym typeface="Calibri"/>
            </a:endParaRPr>
          </a:p>
        </p:txBody>
      </p:sp>
      <p:sp>
        <p:nvSpPr>
          <p:cNvPr id="100" name="Google Shape;100;p6"/>
          <p:cNvSpPr/>
          <p:nvPr/>
        </p:nvSpPr>
        <p:spPr>
          <a:xfrm>
            <a:off x="502920" y="3813048"/>
            <a:ext cx="5394960" cy="1481328"/>
          </a:xfrm>
          <a:prstGeom prst="roundRect">
            <a:avLst>
              <a:gd fmla="val 4938"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85800" y="3977640"/>
            <a:ext cx="457200" cy="45720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85800" y="39776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RQ3</a:t>
            </a:r>
            <a:endParaRPr b="0" i="0" sz="1200" u="none" cap="none" strike="noStrike">
              <a:solidFill>
                <a:schemeClr val="dk1"/>
              </a:solidFill>
              <a:latin typeface="Calibri"/>
              <a:ea typeface="Calibri"/>
              <a:cs typeface="Calibri"/>
              <a:sym typeface="Calibri"/>
            </a:endParaRPr>
          </a:p>
        </p:txBody>
      </p:sp>
      <p:sp>
        <p:nvSpPr>
          <p:cNvPr id="103" name="Google Shape;103;p6"/>
          <p:cNvSpPr/>
          <p:nvPr/>
        </p:nvSpPr>
        <p:spPr>
          <a:xfrm>
            <a:off x="1280160" y="3941064"/>
            <a:ext cx="4434840" cy="122529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E1E1E"/>
              </a:buClr>
              <a:buSzPts val="1180"/>
              <a:buFont typeface="Calibri"/>
              <a:buNone/>
            </a:pPr>
            <a:r>
              <a:rPr b="0" i="0" lang="en-US" sz="1180" u="none" cap="none" strike="noStrike">
                <a:solidFill>
                  <a:srgbClr val="1E1E1E"/>
                </a:solidFill>
                <a:latin typeface="Calibri"/>
                <a:ea typeface="Calibri"/>
                <a:cs typeface="Calibri"/>
                <a:sym typeface="Calibri"/>
              </a:rPr>
              <a:t>What is the quantitative signal-to-noise ratio (SNR) boundary at which environmental noise degrades diagnostic accuracy below acceptable screening standards?</a:t>
            </a:r>
            <a:endParaRPr b="0" i="0" sz="1180" u="none" cap="none" strike="noStrike">
              <a:solidFill>
                <a:schemeClr val="dk1"/>
              </a:solidFill>
              <a:latin typeface="Calibri"/>
              <a:ea typeface="Calibri"/>
              <a:cs typeface="Calibri"/>
              <a:sym typeface="Calibri"/>
            </a:endParaRPr>
          </a:p>
        </p:txBody>
      </p:sp>
      <p:sp>
        <p:nvSpPr>
          <p:cNvPr id="104" name="Google Shape;104;p6"/>
          <p:cNvSpPr/>
          <p:nvPr/>
        </p:nvSpPr>
        <p:spPr>
          <a:xfrm>
            <a:off x="6263640" y="3813048"/>
            <a:ext cx="5394960" cy="1481328"/>
          </a:xfrm>
          <a:prstGeom prst="roundRect">
            <a:avLst>
              <a:gd fmla="val 4938"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446520" y="3977640"/>
            <a:ext cx="457200" cy="457200"/>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6446520" y="39776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RQ4</a:t>
            </a:r>
            <a:endParaRPr b="0" i="0" sz="1200" u="none" cap="none" strike="noStrike">
              <a:solidFill>
                <a:schemeClr val="dk1"/>
              </a:solidFill>
              <a:latin typeface="Calibri"/>
              <a:ea typeface="Calibri"/>
              <a:cs typeface="Calibri"/>
              <a:sym typeface="Calibri"/>
            </a:endParaRPr>
          </a:p>
        </p:txBody>
      </p:sp>
      <p:sp>
        <p:nvSpPr>
          <p:cNvPr id="107" name="Google Shape;107;p6"/>
          <p:cNvSpPr/>
          <p:nvPr/>
        </p:nvSpPr>
        <p:spPr>
          <a:xfrm>
            <a:off x="7040880" y="3941064"/>
            <a:ext cx="4434840" cy="122529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E1E1E"/>
              </a:buClr>
              <a:buSzPts val="1180"/>
              <a:buFont typeface="Calibri"/>
              <a:buNone/>
            </a:pPr>
            <a:r>
              <a:rPr b="0" i="0" lang="en-US" sz="1180" u="none" cap="none" strike="noStrike">
                <a:solidFill>
                  <a:srgbClr val="1E1E1E"/>
                </a:solidFill>
                <a:latin typeface="Calibri"/>
                <a:ea typeface="Calibri"/>
                <a:cs typeface="Calibri"/>
                <a:sym typeface="Calibri"/>
              </a:rPr>
              <a:t>Does patient-stratified data splitting prevent inter-patient performance decay across unseen individuals, and is diagnostic parity maintained across age and sex cohorts?</a:t>
            </a:r>
            <a:endParaRPr b="0" i="0" sz="118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7"/>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114" name="Google Shape;114;p7"/>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115" name="Google Shape;115;p7"/>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116" name="Google Shape;116;p7"/>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502920" y="274320"/>
            <a:ext cx="1653235"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502920" y="274320"/>
            <a:ext cx="1653235"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INTRODUCTION · 1.3</a:t>
            </a:r>
            <a:endParaRPr b="0" i="0" sz="1000" u="none" cap="none" strike="noStrike">
              <a:solidFill>
                <a:schemeClr val="dk1"/>
              </a:solidFill>
              <a:latin typeface="Calibri"/>
              <a:ea typeface="Calibri"/>
              <a:cs typeface="Calibri"/>
              <a:sym typeface="Calibri"/>
            </a:endParaRPr>
          </a:p>
        </p:txBody>
      </p:sp>
      <p:sp>
        <p:nvSpPr>
          <p:cNvPr id="119" name="Google Shape;119;p7"/>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Scope and Target Arrhythmia Definitions</a:t>
            </a:r>
            <a:endParaRPr b="0" i="0" sz="2400" u="none" cap="none" strike="noStrike">
              <a:solidFill>
                <a:schemeClr val="dk1"/>
              </a:solidFill>
              <a:latin typeface="Calibri"/>
              <a:ea typeface="Calibri"/>
              <a:cs typeface="Calibri"/>
              <a:sym typeface="Calibri"/>
            </a:endParaRPr>
          </a:p>
        </p:txBody>
      </p:sp>
      <p:sp>
        <p:nvSpPr>
          <p:cNvPr id="120" name="Google Shape;120;p7"/>
          <p:cNvSpPr/>
          <p:nvPr/>
        </p:nvSpPr>
        <p:spPr>
          <a:xfrm>
            <a:off x="502920" y="1371600"/>
            <a:ext cx="111858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200"/>
              <a:buFont typeface="Calibri"/>
              <a:buNone/>
            </a:pPr>
            <a:r>
              <a:rPr b="0" i="1" lang="en-US" sz="1200" u="none" cap="none" strike="noStrike">
                <a:solidFill>
                  <a:srgbClr val="1E1E1E"/>
                </a:solidFill>
                <a:latin typeface="Calibri"/>
                <a:ea typeface="Calibri"/>
                <a:cs typeface="Calibri"/>
                <a:sym typeface="Calibri"/>
              </a:rPr>
              <a:t>Table 1. Target Arrhythmia Labels and Clinical Definitions, following the diagnostic taxonomy of Sadiq et al. (2025).</a:t>
            </a:r>
            <a:endParaRPr b="0" i="0" sz="1200" u="none" cap="none" strike="noStrike">
              <a:solidFill>
                <a:schemeClr val="dk1"/>
              </a:solidFill>
              <a:latin typeface="Calibri"/>
              <a:ea typeface="Calibri"/>
              <a:cs typeface="Calibri"/>
              <a:sym typeface="Calibri"/>
            </a:endParaRPr>
          </a:p>
        </p:txBody>
      </p:sp>
      <p:graphicFrame>
        <p:nvGraphicFramePr>
          <p:cNvPr id="121" name="Google Shape;121;p7"/>
          <p:cNvGraphicFramePr/>
          <p:nvPr/>
        </p:nvGraphicFramePr>
        <p:xfrm>
          <a:off x="502920" y="1828800"/>
          <a:ext cx="3000000" cy="3000000"/>
        </p:xfrm>
        <a:graphic>
          <a:graphicData uri="http://schemas.openxmlformats.org/drawingml/2006/table">
            <a:tbl>
              <a:tblPr>
                <a:noFill/>
                <a:tableStyleId>{5077FDEB-68C0-4C12-AD4D-F4B8976BB019}</a:tableStyleId>
              </a:tblPr>
              <a:tblGrid>
                <a:gridCol w="1463050"/>
                <a:gridCol w="2926075"/>
                <a:gridCol w="3749050"/>
                <a:gridCol w="3044950"/>
              </a:tblGrid>
              <a:tr h="484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Label</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Condition Name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Clinical Description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Diagnostic Sign on Lead-I</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NSR</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Normal Sinus Rhythm</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Normal cardiac electrical activity, rate 60–100 bpm</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Regular P-QRS-T complexes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AFb / AFl</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Atrial Fibrillation / Flutter</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Chaotic or rapid atrial activity; high stroke risk</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Absent P-waves, irregular RR intervals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1AV</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First-Degree AV Block</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Delayed conduction through the AV node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PR interval &gt; 200 ms (prolonged)</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PAC</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Premature Atrial Contraction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Early heartbeat originating in the atria</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Abnormal/early P-wave, non-compensatory pause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PVC</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Premature Ventricular Contraction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Early heartbeat originating in ventricles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Wide, bizarre QRS complex (&gt;120 ms)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BRADY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Bradycardia</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Abnormally slow heart rate (&lt;60 bpm)</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Prolonged RR intervals (&gt;1000 ms)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TACHY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Tachycardia</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Abnormally fast heart rate (&gt;100 bpm)</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Shortened RR intervals (&lt;600 ms)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128" name="Google Shape;128;p8"/>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129" name="Google Shape;129;p8"/>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130" name="Google Shape;130;p8"/>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502920" y="274320"/>
            <a:ext cx="209763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502920" y="274320"/>
            <a:ext cx="209763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RELATED WORK · SECTION 2</a:t>
            </a:r>
            <a:endParaRPr b="0" i="0" sz="1000" u="none" cap="none" strike="noStrike">
              <a:solidFill>
                <a:schemeClr val="dk1"/>
              </a:solidFill>
              <a:latin typeface="Calibri"/>
              <a:ea typeface="Calibri"/>
              <a:cs typeface="Calibri"/>
              <a:sym typeface="Calibri"/>
            </a:endParaRPr>
          </a:p>
        </p:txBody>
      </p:sp>
      <p:sp>
        <p:nvSpPr>
          <p:cNvPr id="133" name="Google Shape;133;p8"/>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ECG Classification Literature and System Integration</a:t>
            </a:r>
            <a:endParaRPr b="0" i="0" sz="2400" u="none" cap="none" strike="noStrike">
              <a:solidFill>
                <a:schemeClr val="dk1"/>
              </a:solidFill>
              <a:latin typeface="Calibri"/>
              <a:ea typeface="Calibri"/>
              <a:cs typeface="Calibri"/>
              <a:sym typeface="Calibri"/>
            </a:endParaRPr>
          </a:p>
        </p:txBody>
      </p:sp>
      <p:sp>
        <p:nvSpPr>
          <p:cNvPr id="134" name="Google Shape;134;p8"/>
          <p:cNvSpPr/>
          <p:nvPr/>
        </p:nvSpPr>
        <p:spPr>
          <a:xfrm>
            <a:off x="502920" y="1554480"/>
            <a:ext cx="11185855" cy="1417320"/>
          </a:xfrm>
          <a:prstGeom prst="roundRect">
            <a:avLst>
              <a:gd fmla="val 451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731520" y="1664208"/>
            <a:ext cx="107286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400"/>
              <a:buFont typeface="Cambria"/>
              <a:buNone/>
            </a:pPr>
            <a:r>
              <a:rPr b="1" i="0" lang="en-US" sz="1400" u="none" cap="none" strike="noStrike">
                <a:solidFill>
                  <a:srgbClr val="003B70"/>
                </a:solidFill>
                <a:latin typeface="Cambria"/>
                <a:ea typeface="Cambria"/>
                <a:cs typeface="Cambria"/>
                <a:sym typeface="Cambria"/>
              </a:rPr>
              <a:t>2.1 — Classification Literature</a:t>
            </a:r>
            <a:endParaRPr b="0" i="0" sz="1400" u="none" cap="none" strike="noStrike">
              <a:solidFill>
                <a:schemeClr val="dk1"/>
              </a:solidFill>
              <a:latin typeface="Calibri"/>
              <a:ea typeface="Calibri"/>
              <a:cs typeface="Calibri"/>
              <a:sym typeface="Calibri"/>
            </a:endParaRPr>
          </a:p>
        </p:txBody>
      </p:sp>
      <p:sp>
        <p:nvSpPr>
          <p:cNvPr id="136" name="Google Shape;136;p8"/>
          <p:cNvSpPr/>
          <p:nvPr/>
        </p:nvSpPr>
        <p:spPr>
          <a:xfrm>
            <a:off x="731520" y="2011680"/>
            <a:ext cx="10728655"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Automated ECG analysis progressed from rule-based QRS detectors — the Pan-Tompkins peak algorithm (Pan &amp; Tompkins, 1985) — to statistical classifiers on timing/morphological features (De Chazal et al., 2004), and later to end-to-end deep feature extraction from raw signal arrays.</a:t>
            </a:r>
            <a:endParaRPr b="0" i="0" sz="1200" u="none" cap="none" strike="noStrike">
              <a:solidFill>
                <a:schemeClr val="dk1"/>
              </a:solidFill>
              <a:latin typeface="Calibri"/>
              <a:ea typeface="Calibri"/>
              <a:cs typeface="Calibri"/>
              <a:sym typeface="Calibri"/>
            </a:endParaRPr>
          </a:p>
        </p:txBody>
      </p:sp>
      <p:sp>
        <p:nvSpPr>
          <p:cNvPr id="137" name="Google Shape;137;p8"/>
          <p:cNvSpPr/>
          <p:nvPr/>
        </p:nvSpPr>
        <p:spPr>
          <a:xfrm>
            <a:off x="502920" y="3108960"/>
            <a:ext cx="11185855" cy="1417320"/>
          </a:xfrm>
          <a:prstGeom prst="roundRect">
            <a:avLst>
              <a:gd fmla="val 451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731520" y="3218688"/>
            <a:ext cx="107286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400"/>
              <a:buFont typeface="Cambria"/>
              <a:buNone/>
            </a:pPr>
            <a:r>
              <a:rPr b="1" i="0" lang="en-US" sz="1400" u="none" cap="none" strike="noStrike">
                <a:solidFill>
                  <a:srgbClr val="003B70"/>
                </a:solidFill>
                <a:latin typeface="Cambria"/>
                <a:ea typeface="Cambria"/>
                <a:cs typeface="Cambria"/>
                <a:sym typeface="Cambria"/>
              </a:rPr>
              <a:t>2.2 — Single-Lead vs. 12-Lead Diagnostics</a:t>
            </a:r>
            <a:endParaRPr b="0" i="0" sz="1400" u="none" cap="none" strike="noStrike">
              <a:solidFill>
                <a:schemeClr val="dk1"/>
              </a:solidFill>
              <a:latin typeface="Calibri"/>
              <a:ea typeface="Calibri"/>
              <a:cs typeface="Calibri"/>
              <a:sym typeface="Calibri"/>
            </a:endParaRPr>
          </a:p>
        </p:txBody>
      </p:sp>
      <p:sp>
        <p:nvSpPr>
          <p:cNvPr id="139" name="Google Shape;139;p8"/>
          <p:cNvSpPr/>
          <p:nvPr/>
        </p:nvSpPr>
        <p:spPr>
          <a:xfrm>
            <a:off x="731520" y="3566160"/>
            <a:ext cx="10728655"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Sadiq et al. (2025) demonstrated that models trained on pristine clinical 12-lead recordings degrade when deployed on single-lead ambulatory signals corrupted by motion artifacts, and that rigorous validation requires patient-isolated data splitting to avoid patient memorization.</a:t>
            </a:r>
            <a:endParaRPr b="0" i="0" sz="1200" u="none" cap="none" strike="noStrike">
              <a:solidFill>
                <a:schemeClr val="dk1"/>
              </a:solidFill>
              <a:latin typeface="Calibri"/>
              <a:ea typeface="Calibri"/>
              <a:cs typeface="Calibri"/>
              <a:sym typeface="Calibri"/>
            </a:endParaRPr>
          </a:p>
        </p:txBody>
      </p:sp>
      <p:sp>
        <p:nvSpPr>
          <p:cNvPr id="140" name="Google Shape;140;p8"/>
          <p:cNvSpPr/>
          <p:nvPr/>
        </p:nvSpPr>
        <p:spPr>
          <a:xfrm>
            <a:off x="502920" y="4663440"/>
            <a:ext cx="11185855" cy="1417320"/>
          </a:xfrm>
          <a:prstGeom prst="roundRect">
            <a:avLst>
              <a:gd fmla="val 4516"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731520" y="4773168"/>
            <a:ext cx="107286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400"/>
              <a:buFont typeface="Cambria"/>
              <a:buNone/>
            </a:pPr>
            <a:r>
              <a:rPr b="1" i="0" lang="en-US" sz="1400" u="none" cap="none" strike="noStrike">
                <a:solidFill>
                  <a:srgbClr val="003B70"/>
                </a:solidFill>
                <a:latin typeface="Cambria"/>
                <a:ea typeface="Cambria"/>
                <a:cs typeface="Cambria"/>
                <a:sym typeface="Cambria"/>
              </a:rPr>
              <a:t>2.3 — Our System Integration</a:t>
            </a:r>
            <a:endParaRPr b="0" i="0" sz="1400" u="none" cap="none" strike="noStrike">
              <a:solidFill>
                <a:schemeClr val="dk1"/>
              </a:solidFill>
              <a:latin typeface="Calibri"/>
              <a:ea typeface="Calibri"/>
              <a:cs typeface="Calibri"/>
              <a:sym typeface="Calibri"/>
            </a:endParaRPr>
          </a:p>
        </p:txBody>
      </p:sp>
      <p:sp>
        <p:nvSpPr>
          <p:cNvPr id="142" name="Google Shape;142;p8"/>
          <p:cNvSpPr/>
          <p:nvPr/>
        </p:nvSpPr>
        <p:spPr>
          <a:xfrm>
            <a:off x="731520" y="5120640"/>
            <a:ext cx="10728655" cy="914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Our pipeline combines custom feature engineering, dynamic cost-sensitive loss weighting, gradient-boosted tree ensembles, Youden's J threshold tuning, and Sigmoid/Platt calibration — computing exact label-specific loss weights from positive-class prevalence rather than synthetic resampling (e.g., SMOTE), which can distort multi-label correlations.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149" name="Google Shape;149;p9"/>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150" name="Google Shape;150;p9"/>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151" name="Google Shape;151;p9"/>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52" name="Google Shape;152;p9"/>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3.1</a:t>
            </a:r>
            <a:endParaRPr b="0" i="0" sz="1000" u="none" cap="none" strike="noStrike">
              <a:solidFill>
                <a:schemeClr val="dk1"/>
              </a:solidFill>
              <a:latin typeface="Calibri"/>
              <a:ea typeface="Calibri"/>
              <a:cs typeface="Calibri"/>
              <a:sym typeface="Calibri"/>
            </a:endParaRPr>
          </a:p>
        </p:txBody>
      </p:sp>
      <p:sp>
        <p:nvSpPr>
          <p:cNvPr id="154" name="Google Shape;154;p9"/>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PTB-XL Dataset Profile and Demographics</a:t>
            </a:r>
            <a:endParaRPr b="0" i="0" sz="2400" u="none" cap="none" strike="noStrike">
              <a:solidFill>
                <a:schemeClr val="dk1"/>
              </a:solidFill>
              <a:latin typeface="Calibri"/>
              <a:ea typeface="Calibri"/>
              <a:cs typeface="Calibri"/>
              <a:sym typeface="Calibri"/>
            </a:endParaRPr>
          </a:p>
        </p:txBody>
      </p:sp>
      <p:graphicFrame>
        <p:nvGraphicFramePr>
          <p:cNvPr id="155" name="Google Shape;155;p9"/>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2926075"/>
                <a:gridCol w="2651750"/>
                <a:gridCol w="2651750"/>
                <a:gridCol w="2953500"/>
              </a:tblGrid>
              <a:tr h="5303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Dataset Metric</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Raw PTB-XL Value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Cleaned Project Value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Notes / Filtering Impact</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Total ECG Recordings (n)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21,799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21,786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13 missing/corrupted records removed</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Distinct Patients (n)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18,869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18,862</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Multi-recording patients grouped by ID</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Signal Duration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10 seconds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10 seconds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1,000 continuous Lead-I voltage samples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Sampling Rate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100 Hz / 500 Hz</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100 Hz</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Low-resolution standard for wearable efficiency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Age (Years, Mean ± SD)</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59.8 ± 16.9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59.8 ± 16.8</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Filtered extreme outliers (age &gt; 100)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Sex Distribution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52.1% M / 47.9% F</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52.1% M / 47.9% F</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Balanced demographic representation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Quality Contamination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30.33% noisy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30.33% flagged</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Preserved for noise degradation stress-testing</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156" name="Google Shape;156;p9"/>
          <p:cNvSpPr/>
          <p:nvPr/>
        </p:nvSpPr>
        <p:spPr>
          <a:xfrm>
            <a:off x="502920" y="5989320"/>
            <a:ext cx="111858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050"/>
              <a:buFont typeface="Calibri"/>
              <a:buNone/>
            </a:pPr>
            <a:r>
              <a:rPr b="0" i="1" lang="en-US" sz="1050" u="none" cap="none" strike="noStrike">
                <a:solidFill>
                  <a:srgbClr val="898989"/>
                </a:solidFill>
                <a:latin typeface="Calibri"/>
                <a:ea typeface="Calibri"/>
                <a:cs typeface="Calibri"/>
                <a:sym typeface="Calibri"/>
              </a:rPr>
              <a:t>Table 2. PhysioNet PTB-XL v1.0.3 (Wagner et al., 2020), Creative Commons Attribution 4.0.</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163" name="Google Shape;163;p10"/>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164" name="Google Shape;164;p10"/>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165" name="Google Shape;165;p10"/>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166" name="Google Shape;166;p10"/>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3.1</a:t>
            </a:r>
            <a:endParaRPr b="0" i="0" sz="1000" u="none" cap="none" strike="noStrike">
              <a:solidFill>
                <a:schemeClr val="dk1"/>
              </a:solidFill>
              <a:latin typeface="Calibri"/>
              <a:ea typeface="Calibri"/>
              <a:cs typeface="Calibri"/>
              <a:sym typeface="Calibri"/>
            </a:endParaRPr>
          </a:p>
        </p:txBody>
      </p:sp>
      <p:sp>
        <p:nvSpPr>
          <p:cNvPr id="168" name="Google Shape;168;p10"/>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Signal Acquisition: Wearable-Grade Parameters</a:t>
            </a:r>
            <a:endParaRPr b="0" i="0" sz="2400" u="none" cap="none" strike="noStrike">
              <a:solidFill>
                <a:schemeClr val="dk1"/>
              </a:solidFill>
              <a:latin typeface="Calibri"/>
              <a:ea typeface="Calibri"/>
              <a:cs typeface="Calibri"/>
              <a:sym typeface="Calibri"/>
            </a:endParaRPr>
          </a:p>
        </p:txBody>
      </p:sp>
      <p:sp>
        <p:nvSpPr>
          <p:cNvPr id="169" name="Google Shape;169;p10"/>
          <p:cNvSpPr/>
          <p:nvPr/>
        </p:nvSpPr>
        <p:spPr>
          <a:xfrm>
            <a:off x="502920" y="1508760"/>
            <a:ext cx="2606040" cy="1280160"/>
          </a:xfrm>
          <a:prstGeom prst="roundRect">
            <a:avLst>
              <a:gd fmla="val 5714"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594360" y="1581912"/>
            <a:ext cx="2423160" cy="7168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10 s</a:t>
            </a:r>
            <a:endParaRPr b="0" i="0" sz="2400" u="none" cap="none" strike="noStrike">
              <a:solidFill>
                <a:schemeClr val="dk1"/>
              </a:solidFill>
              <a:latin typeface="Calibri"/>
              <a:ea typeface="Calibri"/>
              <a:cs typeface="Calibri"/>
              <a:sym typeface="Calibri"/>
            </a:endParaRPr>
          </a:p>
        </p:txBody>
      </p:sp>
      <p:sp>
        <p:nvSpPr>
          <p:cNvPr id="171" name="Google Shape;171;p10"/>
          <p:cNvSpPr/>
          <p:nvPr/>
        </p:nvSpPr>
        <p:spPr>
          <a:xfrm>
            <a:off x="594360" y="2251253"/>
            <a:ext cx="2423160" cy="5120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recording duration</a:t>
            </a:r>
            <a:endParaRPr b="0" i="0" sz="1050" u="none" cap="none" strike="noStrike">
              <a:solidFill>
                <a:schemeClr val="dk1"/>
              </a:solidFill>
              <a:latin typeface="Calibri"/>
              <a:ea typeface="Calibri"/>
              <a:cs typeface="Calibri"/>
              <a:sym typeface="Calibri"/>
            </a:endParaRPr>
          </a:p>
        </p:txBody>
      </p:sp>
      <p:sp>
        <p:nvSpPr>
          <p:cNvPr id="172" name="Google Shape;172;p10"/>
          <p:cNvSpPr/>
          <p:nvPr/>
        </p:nvSpPr>
        <p:spPr>
          <a:xfrm>
            <a:off x="3291840" y="1508760"/>
            <a:ext cx="2606040" cy="1280160"/>
          </a:xfrm>
          <a:prstGeom prst="roundRect">
            <a:avLst>
              <a:gd fmla="val 5714"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3383280" y="1581912"/>
            <a:ext cx="2423160" cy="7168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1,000</a:t>
            </a:r>
            <a:endParaRPr b="0" i="0" sz="2400" u="none" cap="none" strike="noStrike">
              <a:solidFill>
                <a:schemeClr val="dk1"/>
              </a:solidFill>
              <a:latin typeface="Calibri"/>
              <a:ea typeface="Calibri"/>
              <a:cs typeface="Calibri"/>
              <a:sym typeface="Calibri"/>
            </a:endParaRPr>
          </a:p>
        </p:txBody>
      </p:sp>
      <p:sp>
        <p:nvSpPr>
          <p:cNvPr id="174" name="Google Shape;174;p10"/>
          <p:cNvSpPr/>
          <p:nvPr/>
        </p:nvSpPr>
        <p:spPr>
          <a:xfrm>
            <a:off x="3383280" y="2251253"/>
            <a:ext cx="2423160" cy="5120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voltage samples / record</a:t>
            </a:r>
            <a:endParaRPr b="0" i="0" sz="1050" u="none" cap="none" strike="noStrike">
              <a:solidFill>
                <a:schemeClr val="dk1"/>
              </a:solidFill>
              <a:latin typeface="Calibri"/>
              <a:ea typeface="Calibri"/>
              <a:cs typeface="Calibri"/>
              <a:sym typeface="Calibri"/>
            </a:endParaRPr>
          </a:p>
        </p:txBody>
      </p:sp>
      <p:sp>
        <p:nvSpPr>
          <p:cNvPr id="175" name="Google Shape;175;p10"/>
          <p:cNvSpPr/>
          <p:nvPr/>
        </p:nvSpPr>
        <p:spPr>
          <a:xfrm>
            <a:off x="6080760" y="1508760"/>
            <a:ext cx="2606040" cy="1280160"/>
          </a:xfrm>
          <a:prstGeom prst="roundRect">
            <a:avLst>
              <a:gd fmla="val 5714"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6172200" y="1581912"/>
            <a:ext cx="2423160" cy="7168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100 Hz</a:t>
            </a:r>
            <a:endParaRPr b="0" i="0" sz="2400" u="none" cap="none" strike="noStrike">
              <a:solidFill>
                <a:schemeClr val="dk1"/>
              </a:solidFill>
              <a:latin typeface="Calibri"/>
              <a:ea typeface="Calibri"/>
              <a:cs typeface="Calibri"/>
              <a:sym typeface="Calibri"/>
            </a:endParaRPr>
          </a:p>
        </p:txBody>
      </p:sp>
      <p:sp>
        <p:nvSpPr>
          <p:cNvPr id="177" name="Google Shape;177;p10"/>
          <p:cNvSpPr/>
          <p:nvPr/>
        </p:nvSpPr>
        <p:spPr>
          <a:xfrm>
            <a:off x="6172200" y="2251253"/>
            <a:ext cx="2423160" cy="5120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downsampled rate (_lr)</a:t>
            </a:r>
            <a:endParaRPr b="0" i="0" sz="1050" u="none" cap="none" strike="noStrike">
              <a:solidFill>
                <a:schemeClr val="dk1"/>
              </a:solidFill>
              <a:latin typeface="Calibri"/>
              <a:ea typeface="Calibri"/>
              <a:cs typeface="Calibri"/>
              <a:sym typeface="Calibri"/>
            </a:endParaRPr>
          </a:p>
        </p:txBody>
      </p:sp>
      <p:sp>
        <p:nvSpPr>
          <p:cNvPr id="178" name="Google Shape;178;p10"/>
          <p:cNvSpPr/>
          <p:nvPr/>
        </p:nvSpPr>
        <p:spPr>
          <a:xfrm>
            <a:off x="8869680" y="1508760"/>
            <a:ext cx="2606040" cy="1280160"/>
          </a:xfrm>
          <a:prstGeom prst="roundRect">
            <a:avLst>
              <a:gd fmla="val 5714"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p:nvPr/>
        </p:nvSpPr>
        <p:spPr>
          <a:xfrm>
            <a:off x="8961120" y="1581912"/>
            <a:ext cx="2423160" cy="71689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1 / 12</a:t>
            </a:r>
            <a:endParaRPr b="0" i="0" sz="2400" u="none" cap="none" strike="noStrike">
              <a:solidFill>
                <a:schemeClr val="dk1"/>
              </a:solidFill>
              <a:latin typeface="Calibri"/>
              <a:ea typeface="Calibri"/>
              <a:cs typeface="Calibri"/>
              <a:sym typeface="Calibri"/>
            </a:endParaRPr>
          </a:p>
        </p:txBody>
      </p:sp>
      <p:sp>
        <p:nvSpPr>
          <p:cNvPr id="180" name="Google Shape;180;p10"/>
          <p:cNvSpPr/>
          <p:nvPr/>
        </p:nvSpPr>
        <p:spPr>
          <a:xfrm>
            <a:off x="8961120" y="2251253"/>
            <a:ext cx="2423160" cy="51206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leads retained (Lead-I)</a:t>
            </a:r>
            <a:endParaRPr b="0" i="0" sz="1050" u="none" cap="none" strike="noStrike">
              <a:solidFill>
                <a:schemeClr val="dk1"/>
              </a:solidFill>
              <a:latin typeface="Calibri"/>
              <a:ea typeface="Calibri"/>
              <a:cs typeface="Calibri"/>
              <a:sym typeface="Calibri"/>
            </a:endParaRPr>
          </a:p>
        </p:txBody>
      </p:sp>
      <p:sp>
        <p:nvSpPr>
          <p:cNvPr id="181" name="Google Shape;181;p10"/>
          <p:cNvSpPr/>
          <p:nvPr/>
        </p:nvSpPr>
        <p:spPr>
          <a:xfrm>
            <a:off x="502920" y="3063240"/>
            <a:ext cx="11185855" cy="219456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PTB-XL provides two sampling rates, 100 Hz and 500 Hz; we use the 100 Hz ("_lr") files exclusively to approximate consumer wearable ADC sampling parameters rather than the clinical-grade 500 Hz signal.</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Of the original 12 simultaneous leads, only Lead-I (left-arm to right-arm potential difference) is retained, replicating the single-electrode-pair geometry of a wrist-worn or chest-strap wearable device.</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Net effect: every downstream feature is computed on a deliberately degraded, single-channel, lower-resolution representation of the source signal — a conservative test of wearable feasibility.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188" name="Google Shape;188;p11"/>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189" name="Google Shape;189;p11"/>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190" name="Google Shape;190;p11"/>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91" name="Google Shape;191;p11"/>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3.2</a:t>
            </a:r>
            <a:endParaRPr b="0" i="0" sz="1000" u="none" cap="none" strike="noStrike">
              <a:solidFill>
                <a:schemeClr val="dk1"/>
              </a:solidFill>
              <a:latin typeface="Calibri"/>
              <a:ea typeface="Calibri"/>
              <a:cs typeface="Calibri"/>
              <a:sym typeface="Calibri"/>
            </a:endParaRPr>
          </a:p>
        </p:txBody>
      </p:sp>
      <p:sp>
        <p:nvSpPr>
          <p:cNvPr id="193" name="Google Shape;193;p11"/>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Signal Hygiene: CARE-I Quality Indicator Audit</a:t>
            </a:r>
            <a:endParaRPr b="0" i="0" sz="2400" u="none" cap="none" strike="noStrike">
              <a:solidFill>
                <a:schemeClr val="dk1"/>
              </a:solidFill>
              <a:latin typeface="Calibri"/>
              <a:ea typeface="Calibri"/>
              <a:cs typeface="Calibri"/>
              <a:sym typeface="Calibri"/>
            </a:endParaRPr>
          </a:p>
        </p:txBody>
      </p:sp>
      <p:sp>
        <p:nvSpPr>
          <p:cNvPr id="194" name="Google Shape;194;p11"/>
          <p:cNvSpPr/>
          <p:nvPr/>
        </p:nvSpPr>
        <p:spPr>
          <a:xfrm>
            <a:off x="502920" y="1371600"/>
            <a:ext cx="111858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250"/>
              <a:buFont typeface="Calibri"/>
              <a:buNone/>
            </a:pPr>
            <a:r>
              <a:rPr b="0" i="1" lang="en-US" sz="1250" u="none" cap="none" strike="noStrike">
                <a:solidFill>
                  <a:srgbClr val="1E1E1E"/>
                </a:solidFill>
                <a:latin typeface="Calibri"/>
                <a:ea typeface="Calibri"/>
                <a:cs typeface="Calibri"/>
                <a:sym typeface="Calibri"/>
              </a:rPr>
              <a:t>Data preparation established signal hygiene under the CARE-I framework. Quality columns were converted into binary flags across six artifact categories.</a:t>
            </a:r>
            <a:endParaRPr b="0" i="0" sz="1250" u="none" cap="none" strike="noStrike">
              <a:solidFill>
                <a:schemeClr val="dk1"/>
              </a:solidFill>
              <a:latin typeface="Calibri"/>
              <a:ea typeface="Calibri"/>
              <a:cs typeface="Calibri"/>
              <a:sym typeface="Calibri"/>
            </a:endParaRPr>
          </a:p>
        </p:txBody>
      </p:sp>
      <p:graphicFrame>
        <p:nvGraphicFramePr>
          <p:cNvPr id="195" name="Google Shape;195;p11"/>
          <p:cNvGraphicFramePr/>
          <p:nvPr/>
        </p:nvGraphicFramePr>
        <p:xfrm>
          <a:off x="502920" y="1828800"/>
          <a:ext cx="3000000" cy="3000000"/>
        </p:xfrm>
        <a:graphic>
          <a:graphicData uri="http://schemas.openxmlformats.org/drawingml/2006/table">
            <a:tbl>
              <a:tblPr>
                <a:noFill/>
                <a:tableStyleId>{5077FDEB-68C0-4C12-AD4D-F4B8976BB019}</a:tableStyleId>
              </a:tblPr>
              <a:tblGrid>
                <a:gridCol w="2743200"/>
                <a:gridCol w="1188725"/>
                <a:gridCol w="1371600"/>
                <a:gridCol w="5696700"/>
              </a:tblGrid>
              <a:tr h="4846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Noise / Artifact Type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n</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Prevalence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Clinical / Artifact Characteristics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Baseline Wander</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1,596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7.33%</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Low-frequency respiration or body movement (&lt;0.5 Hz)</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Static Noise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3,259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14.96%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High-frequency powerline interference and EMG noise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Burst Noise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613</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2.81%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Transient electrode movement or loss of contact</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Extra Beats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1,948</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8.94%</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Ectopic beats interrupting background rhythm</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Pacemaker Spikes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291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1.34%</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Artificial pacing artifacts superimposed on signal</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Electrode Contact Issue</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30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0.14%</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Severe signal saturation or disconnect</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84625">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Overall Clean Signals</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15,179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69.67%</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Zero quality flags; baseline clean benchmark</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02" name="Google Shape;202;p12"/>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03" name="Google Shape;203;p12"/>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204" name="Google Shape;204;p12"/>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
        <p:nvSpPr>
          <p:cNvPr id="205" name="Google Shape;205;p12"/>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4.1</a:t>
            </a:r>
            <a:endParaRPr b="0" i="0" sz="1000" u="none" cap="none" strike="noStrike">
              <a:solidFill>
                <a:schemeClr val="dk1"/>
              </a:solidFill>
              <a:latin typeface="Calibri"/>
              <a:ea typeface="Calibri"/>
              <a:cs typeface="Calibri"/>
              <a:sym typeface="Calibri"/>
            </a:endParaRPr>
          </a:p>
        </p:txBody>
      </p:sp>
      <p:sp>
        <p:nvSpPr>
          <p:cNvPr id="207" name="Google Shape;207;p12"/>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Figure 1. Signal Quality and Imputation Diagnostics</a:t>
            </a:r>
            <a:endParaRPr b="0" i="0" sz="2400" u="none" cap="none" strike="noStrike">
              <a:solidFill>
                <a:schemeClr val="dk1"/>
              </a:solidFill>
              <a:latin typeface="Calibri"/>
              <a:ea typeface="Calibri"/>
              <a:cs typeface="Calibri"/>
              <a:sym typeface="Calibri"/>
            </a:endParaRPr>
          </a:p>
        </p:txBody>
      </p:sp>
      <p:pic>
        <p:nvPicPr>
          <p:cNvPr descr="figures/figure1_signal_quality_imputation.png" id="208" name="Google Shape;208;p12"/>
          <p:cNvPicPr preferRelativeResize="0"/>
          <p:nvPr/>
        </p:nvPicPr>
        <p:blipFill rotWithShape="1">
          <a:blip r:embed="rId4">
            <a:alphaModFix/>
          </a:blip>
          <a:srcRect b="0" l="0" r="0" t="0"/>
          <a:stretch/>
        </p:blipFill>
        <p:spPr>
          <a:xfrm>
            <a:off x="1357070" y="1417320"/>
            <a:ext cx="9477555" cy="3657600"/>
          </a:xfrm>
          <a:prstGeom prst="rect">
            <a:avLst/>
          </a:prstGeom>
          <a:noFill/>
          <a:ln>
            <a:noFill/>
          </a:ln>
        </p:spPr>
      </p:pic>
      <p:sp>
        <p:nvSpPr>
          <p:cNvPr id="209" name="Google Shape;209;p12"/>
          <p:cNvSpPr/>
          <p:nvPr/>
        </p:nvSpPr>
        <p:spPr>
          <a:xfrm>
            <a:off x="502920" y="5212080"/>
            <a:ext cx="11185855" cy="100584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00"/>
              <a:buFont typeface="Calibri"/>
              <a:buChar char="●"/>
            </a:pPr>
            <a:r>
              <a:rPr b="0" i="0" lang="en-US" sz="1200" u="none" cap="none" strike="noStrike">
                <a:solidFill>
                  <a:srgbClr val="1E1E1E"/>
                </a:solidFill>
                <a:latin typeface="Calibri"/>
                <a:ea typeface="Calibri"/>
                <a:cs typeface="Calibri"/>
                <a:sym typeface="Calibri"/>
              </a:rPr>
              <a:t>Left panel: distribution of the six signal-quality flags across 21,799 PTB-XL recordings (Table 3, visualized).</a:t>
            </a:r>
            <a:endParaRPr b="0" i="0" sz="12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00"/>
              <a:buFont typeface="Calibri"/>
              <a:buChar char="●"/>
            </a:pPr>
            <a:r>
              <a:rPr b="0" i="0" lang="en-US" sz="1200" u="none" cap="none" strike="noStrike">
                <a:solidFill>
                  <a:srgbClr val="1E1E1E"/>
                </a:solidFill>
                <a:latin typeface="Calibri"/>
                <a:ea typeface="Calibri"/>
                <a:cs typeface="Calibri"/>
                <a:sym typeface="Calibri"/>
              </a:rPr>
              <a:t>Right panel: data hygiene and demographic median imputation, pre- vs. post-processing — record/patient counts are materially unchanged (13 files removed), while imputed height/weight fields are fully resolved.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16" name="Google Shape;216;p13"/>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17" name="Google Shape;217;p13"/>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218" name="Google Shape;218;p13"/>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219" name="Google Shape;219;p13"/>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3"/>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3.2</a:t>
            </a:r>
            <a:endParaRPr b="0" i="0" sz="1000" u="none" cap="none" strike="noStrike">
              <a:solidFill>
                <a:schemeClr val="dk1"/>
              </a:solidFill>
              <a:latin typeface="Calibri"/>
              <a:ea typeface="Calibri"/>
              <a:cs typeface="Calibri"/>
              <a:sym typeface="Calibri"/>
            </a:endParaRPr>
          </a:p>
        </p:txBody>
      </p:sp>
      <p:sp>
        <p:nvSpPr>
          <p:cNvPr id="221" name="Google Shape;221;p13"/>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Demographic Imputation Methodology</a:t>
            </a:r>
            <a:endParaRPr b="0" i="0" sz="2400" u="none" cap="none" strike="noStrike">
              <a:solidFill>
                <a:schemeClr val="dk1"/>
              </a:solidFill>
              <a:latin typeface="Calibri"/>
              <a:ea typeface="Calibri"/>
              <a:cs typeface="Calibri"/>
              <a:sym typeface="Calibri"/>
            </a:endParaRPr>
          </a:p>
        </p:txBody>
      </p:sp>
      <p:sp>
        <p:nvSpPr>
          <p:cNvPr id="222" name="Google Shape;222;p13"/>
          <p:cNvSpPr/>
          <p:nvPr/>
        </p:nvSpPr>
        <p:spPr>
          <a:xfrm>
            <a:off x="502920" y="1417320"/>
            <a:ext cx="11185855"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50"/>
              <a:buFont typeface="Calibri"/>
              <a:buNone/>
            </a:pPr>
            <a:r>
              <a:rPr b="0" i="1" lang="en-US" sz="1350" u="none" cap="none" strike="noStrike">
                <a:solidFill>
                  <a:srgbClr val="1E1E1E"/>
                </a:solidFill>
                <a:latin typeface="Calibri"/>
                <a:ea typeface="Calibri"/>
                <a:cs typeface="Calibri"/>
                <a:sym typeface="Calibri"/>
              </a:rPr>
              <a:t>"Missing height and weight values were imputed using median values stratified by age decile and sex." — Report Section 3.2</a:t>
            </a:r>
            <a:endParaRPr b="0" i="0" sz="1350" u="none" cap="none" strike="noStrike">
              <a:solidFill>
                <a:schemeClr val="dk1"/>
              </a:solidFill>
              <a:latin typeface="Calibri"/>
              <a:ea typeface="Calibri"/>
              <a:cs typeface="Calibri"/>
              <a:sym typeface="Calibri"/>
            </a:endParaRPr>
          </a:p>
        </p:txBody>
      </p:sp>
      <p:sp>
        <p:nvSpPr>
          <p:cNvPr id="223" name="Google Shape;223;p13"/>
          <p:cNvSpPr/>
          <p:nvPr/>
        </p:nvSpPr>
        <p:spPr>
          <a:xfrm>
            <a:off x="502920" y="2286000"/>
            <a:ext cx="3520440" cy="2834640"/>
          </a:xfrm>
          <a:prstGeom prst="roundRect">
            <a:avLst>
              <a:gd fmla="val 2581"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704088" y="2468880"/>
            <a:ext cx="31181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500"/>
              <a:buFont typeface="Cambria"/>
              <a:buNone/>
            </a:pPr>
            <a:r>
              <a:rPr b="1" i="0" lang="en-US" sz="1500" u="none" cap="none" strike="noStrike">
                <a:solidFill>
                  <a:srgbClr val="003B70"/>
                </a:solidFill>
                <a:latin typeface="Cambria"/>
                <a:ea typeface="Cambria"/>
                <a:cs typeface="Cambria"/>
                <a:sym typeface="Cambria"/>
              </a:rPr>
              <a:t>Rationale</a:t>
            </a:r>
            <a:endParaRPr b="0" i="0" sz="1500" u="none" cap="none" strike="noStrike">
              <a:solidFill>
                <a:schemeClr val="dk1"/>
              </a:solidFill>
              <a:latin typeface="Calibri"/>
              <a:ea typeface="Calibri"/>
              <a:cs typeface="Calibri"/>
              <a:sym typeface="Calibri"/>
            </a:endParaRPr>
          </a:p>
        </p:txBody>
      </p:sp>
      <p:sp>
        <p:nvSpPr>
          <p:cNvPr id="225" name="Google Shape;225;p13"/>
          <p:cNvSpPr/>
          <p:nvPr/>
        </p:nvSpPr>
        <p:spPr>
          <a:xfrm>
            <a:off x="704088" y="2926080"/>
            <a:ext cx="3118104" cy="205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Global mean imputation ignores that height and weight covary with age and sex, biasing every patient toward a single "typical" body type.</a:t>
            </a:r>
            <a:endParaRPr b="0" i="0" sz="1200" u="none" cap="none" strike="noStrike">
              <a:solidFill>
                <a:schemeClr val="dk1"/>
              </a:solidFill>
              <a:latin typeface="Calibri"/>
              <a:ea typeface="Calibri"/>
              <a:cs typeface="Calibri"/>
              <a:sym typeface="Calibri"/>
            </a:endParaRPr>
          </a:p>
        </p:txBody>
      </p:sp>
      <p:sp>
        <p:nvSpPr>
          <p:cNvPr id="226" name="Google Shape;226;p13"/>
          <p:cNvSpPr/>
          <p:nvPr/>
        </p:nvSpPr>
        <p:spPr>
          <a:xfrm>
            <a:off x="4279392" y="2286000"/>
            <a:ext cx="3520440" cy="2834640"/>
          </a:xfrm>
          <a:prstGeom prst="roundRect">
            <a:avLst>
              <a:gd fmla="val 2581"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4480560" y="2468880"/>
            <a:ext cx="31181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500"/>
              <a:buFont typeface="Cambria"/>
              <a:buNone/>
            </a:pPr>
            <a:r>
              <a:rPr b="1" i="0" lang="en-US" sz="1500" u="none" cap="none" strike="noStrike">
                <a:solidFill>
                  <a:srgbClr val="003B70"/>
                </a:solidFill>
                <a:latin typeface="Cambria"/>
                <a:ea typeface="Cambria"/>
                <a:cs typeface="Cambria"/>
                <a:sym typeface="Cambria"/>
              </a:rPr>
              <a:t>Method</a:t>
            </a:r>
            <a:endParaRPr b="0" i="0" sz="1500" u="none" cap="none" strike="noStrike">
              <a:solidFill>
                <a:schemeClr val="dk1"/>
              </a:solidFill>
              <a:latin typeface="Calibri"/>
              <a:ea typeface="Calibri"/>
              <a:cs typeface="Calibri"/>
              <a:sym typeface="Calibri"/>
            </a:endParaRPr>
          </a:p>
        </p:txBody>
      </p:sp>
      <p:sp>
        <p:nvSpPr>
          <p:cNvPr id="228" name="Google Shape;228;p13"/>
          <p:cNvSpPr/>
          <p:nvPr/>
        </p:nvSpPr>
        <p:spPr>
          <a:xfrm>
            <a:off x="4480560" y="2926080"/>
            <a:ext cx="3118104" cy="205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Each missing value is replaced with the median computed within the patient's own age-decile × sex stratum — a targeted, distribution-aware estimator.</a:t>
            </a:r>
            <a:endParaRPr b="0" i="0" sz="1200" u="none" cap="none" strike="noStrike">
              <a:solidFill>
                <a:schemeClr val="dk1"/>
              </a:solidFill>
              <a:latin typeface="Calibri"/>
              <a:ea typeface="Calibri"/>
              <a:cs typeface="Calibri"/>
              <a:sym typeface="Calibri"/>
            </a:endParaRPr>
          </a:p>
        </p:txBody>
      </p:sp>
      <p:sp>
        <p:nvSpPr>
          <p:cNvPr id="229" name="Google Shape;229;p13"/>
          <p:cNvSpPr/>
          <p:nvPr/>
        </p:nvSpPr>
        <p:spPr>
          <a:xfrm>
            <a:off x="8055864" y="2286000"/>
            <a:ext cx="3520440" cy="2834640"/>
          </a:xfrm>
          <a:prstGeom prst="roundRect">
            <a:avLst>
              <a:gd fmla="val 2581"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8257032" y="2468880"/>
            <a:ext cx="31181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500"/>
              <a:buFont typeface="Cambria"/>
              <a:buNone/>
            </a:pPr>
            <a:r>
              <a:rPr b="1" i="0" lang="en-US" sz="1500" u="none" cap="none" strike="noStrike">
                <a:solidFill>
                  <a:srgbClr val="003B70"/>
                </a:solidFill>
                <a:latin typeface="Cambria"/>
                <a:ea typeface="Cambria"/>
                <a:cs typeface="Cambria"/>
                <a:sym typeface="Cambria"/>
              </a:rPr>
              <a:t>Robustness</a:t>
            </a:r>
            <a:endParaRPr b="0" i="0" sz="1500" u="none" cap="none" strike="noStrike">
              <a:solidFill>
                <a:schemeClr val="dk1"/>
              </a:solidFill>
              <a:latin typeface="Calibri"/>
              <a:ea typeface="Calibri"/>
              <a:cs typeface="Calibri"/>
              <a:sym typeface="Calibri"/>
            </a:endParaRPr>
          </a:p>
        </p:txBody>
      </p:sp>
      <p:sp>
        <p:nvSpPr>
          <p:cNvPr id="231" name="Google Shape;231;p13"/>
          <p:cNvSpPr/>
          <p:nvPr/>
        </p:nvSpPr>
        <p:spPr>
          <a:xfrm>
            <a:off x="8257032" y="2926080"/>
            <a:ext cx="3118104" cy="205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The median is a rank-based statistic; unlike the mean, it is not distorted by extreme values, making it appropriate for the right-skewed anthropometric distributions typical of this population.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38" name="Google Shape;238;p14"/>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39" name="Google Shape;239;p14"/>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240" name="Google Shape;240;p14"/>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241" name="Google Shape;241;p14"/>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3.1</a:t>
            </a:r>
            <a:endParaRPr b="0" i="0" sz="1000" u="none" cap="none" strike="noStrike">
              <a:solidFill>
                <a:schemeClr val="dk1"/>
              </a:solidFill>
              <a:latin typeface="Calibri"/>
              <a:ea typeface="Calibri"/>
              <a:cs typeface="Calibri"/>
              <a:sym typeface="Calibri"/>
            </a:endParaRPr>
          </a:p>
        </p:txBody>
      </p:sp>
      <p:sp>
        <p:nvSpPr>
          <p:cNvPr id="243" name="Google Shape;243;p14"/>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Patient Demographic Profile</a:t>
            </a:r>
            <a:endParaRPr b="0" i="0" sz="2400" u="none" cap="none" strike="noStrike">
              <a:solidFill>
                <a:schemeClr val="dk1"/>
              </a:solidFill>
              <a:latin typeface="Calibri"/>
              <a:ea typeface="Calibri"/>
              <a:cs typeface="Calibri"/>
              <a:sym typeface="Calibri"/>
            </a:endParaRPr>
          </a:p>
        </p:txBody>
      </p:sp>
      <p:sp>
        <p:nvSpPr>
          <p:cNvPr id="244" name="Google Shape;244;p14"/>
          <p:cNvSpPr/>
          <p:nvPr/>
        </p:nvSpPr>
        <p:spPr>
          <a:xfrm>
            <a:off x="502920" y="1554480"/>
            <a:ext cx="2606040" cy="1371600"/>
          </a:xfrm>
          <a:prstGeom prst="roundRect">
            <a:avLst>
              <a:gd fmla="val 5333"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594360" y="1627632"/>
            <a:ext cx="2423160" cy="7680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18,862</a:t>
            </a:r>
            <a:endParaRPr b="0" i="0" sz="2400" u="none" cap="none" strike="noStrike">
              <a:solidFill>
                <a:schemeClr val="dk1"/>
              </a:solidFill>
              <a:latin typeface="Calibri"/>
              <a:ea typeface="Calibri"/>
              <a:cs typeface="Calibri"/>
              <a:sym typeface="Calibri"/>
            </a:endParaRPr>
          </a:p>
        </p:txBody>
      </p:sp>
      <p:sp>
        <p:nvSpPr>
          <p:cNvPr id="246" name="Google Shape;246;p14"/>
          <p:cNvSpPr/>
          <p:nvPr/>
        </p:nvSpPr>
        <p:spPr>
          <a:xfrm>
            <a:off x="594360" y="2350008"/>
            <a:ext cx="24231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unique patients</a:t>
            </a:r>
            <a:endParaRPr b="0" i="0" sz="1050" u="none" cap="none" strike="noStrike">
              <a:solidFill>
                <a:schemeClr val="dk1"/>
              </a:solidFill>
              <a:latin typeface="Calibri"/>
              <a:ea typeface="Calibri"/>
              <a:cs typeface="Calibri"/>
              <a:sym typeface="Calibri"/>
            </a:endParaRPr>
          </a:p>
        </p:txBody>
      </p:sp>
      <p:sp>
        <p:nvSpPr>
          <p:cNvPr id="247" name="Google Shape;247;p14"/>
          <p:cNvSpPr/>
          <p:nvPr/>
        </p:nvSpPr>
        <p:spPr>
          <a:xfrm>
            <a:off x="3291840" y="1554480"/>
            <a:ext cx="2606040" cy="1371600"/>
          </a:xfrm>
          <a:prstGeom prst="roundRect">
            <a:avLst>
              <a:gd fmla="val 5333"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3383280" y="1627632"/>
            <a:ext cx="2423160" cy="7680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59.8 ± 16.9</a:t>
            </a:r>
            <a:endParaRPr b="0" i="0" sz="2400" u="none" cap="none" strike="noStrike">
              <a:solidFill>
                <a:schemeClr val="dk1"/>
              </a:solidFill>
              <a:latin typeface="Calibri"/>
              <a:ea typeface="Calibri"/>
              <a:cs typeface="Calibri"/>
              <a:sym typeface="Calibri"/>
            </a:endParaRPr>
          </a:p>
        </p:txBody>
      </p:sp>
      <p:sp>
        <p:nvSpPr>
          <p:cNvPr id="249" name="Google Shape;249;p14"/>
          <p:cNvSpPr/>
          <p:nvPr/>
        </p:nvSpPr>
        <p:spPr>
          <a:xfrm>
            <a:off x="3383280" y="2350008"/>
            <a:ext cx="24231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mean age (years, raw)</a:t>
            </a:r>
            <a:endParaRPr b="0" i="0" sz="1050" u="none" cap="none" strike="noStrike">
              <a:solidFill>
                <a:schemeClr val="dk1"/>
              </a:solidFill>
              <a:latin typeface="Calibri"/>
              <a:ea typeface="Calibri"/>
              <a:cs typeface="Calibri"/>
              <a:sym typeface="Calibri"/>
            </a:endParaRPr>
          </a:p>
        </p:txBody>
      </p:sp>
      <p:sp>
        <p:nvSpPr>
          <p:cNvPr id="250" name="Google Shape;250;p14"/>
          <p:cNvSpPr/>
          <p:nvPr/>
        </p:nvSpPr>
        <p:spPr>
          <a:xfrm>
            <a:off x="6080760" y="1554480"/>
            <a:ext cx="2606040" cy="1371600"/>
          </a:xfrm>
          <a:prstGeom prst="roundRect">
            <a:avLst>
              <a:gd fmla="val 5333"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6172200" y="1627632"/>
            <a:ext cx="2423160" cy="7680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52.1%</a:t>
            </a:r>
            <a:endParaRPr b="0" i="0" sz="2400" u="none" cap="none" strike="noStrike">
              <a:solidFill>
                <a:schemeClr val="dk1"/>
              </a:solidFill>
              <a:latin typeface="Calibri"/>
              <a:ea typeface="Calibri"/>
              <a:cs typeface="Calibri"/>
              <a:sym typeface="Calibri"/>
            </a:endParaRPr>
          </a:p>
        </p:txBody>
      </p:sp>
      <p:sp>
        <p:nvSpPr>
          <p:cNvPr id="252" name="Google Shape;252;p14"/>
          <p:cNvSpPr/>
          <p:nvPr/>
        </p:nvSpPr>
        <p:spPr>
          <a:xfrm>
            <a:off x="6172200" y="2350008"/>
            <a:ext cx="24231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male</a:t>
            </a:r>
            <a:endParaRPr b="0" i="0" sz="1050" u="none" cap="none" strike="noStrike">
              <a:solidFill>
                <a:schemeClr val="dk1"/>
              </a:solidFill>
              <a:latin typeface="Calibri"/>
              <a:ea typeface="Calibri"/>
              <a:cs typeface="Calibri"/>
              <a:sym typeface="Calibri"/>
            </a:endParaRPr>
          </a:p>
        </p:txBody>
      </p:sp>
      <p:sp>
        <p:nvSpPr>
          <p:cNvPr id="253" name="Google Shape;253;p14"/>
          <p:cNvSpPr/>
          <p:nvPr/>
        </p:nvSpPr>
        <p:spPr>
          <a:xfrm>
            <a:off x="8869680" y="1554480"/>
            <a:ext cx="2606040" cy="1371600"/>
          </a:xfrm>
          <a:prstGeom prst="roundRect">
            <a:avLst>
              <a:gd fmla="val 5333"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8961120" y="1627632"/>
            <a:ext cx="2423160" cy="768096"/>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47.9%</a:t>
            </a:r>
            <a:endParaRPr b="0" i="0" sz="2400" u="none" cap="none" strike="noStrike">
              <a:solidFill>
                <a:schemeClr val="dk1"/>
              </a:solidFill>
              <a:latin typeface="Calibri"/>
              <a:ea typeface="Calibri"/>
              <a:cs typeface="Calibri"/>
              <a:sym typeface="Calibri"/>
            </a:endParaRPr>
          </a:p>
        </p:txBody>
      </p:sp>
      <p:sp>
        <p:nvSpPr>
          <p:cNvPr id="255" name="Google Shape;255;p14"/>
          <p:cNvSpPr/>
          <p:nvPr/>
        </p:nvSpPr>
        <p:spPr>
          <a:xfrm>
            <a:off x="8961120" y="2350008"/>
            <a:ext cx="242316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E1E1E"/>
              </a:buClr>
              <a:buSzPts val="1050"/>
              <a:buFont typeface="Calibri"/>
              <a:buNone/>
            </a:pPr>
            <a:r>
              <a:rPr b="0" i="0" lang="en-US" sz="1050" u="none" cap="none" strike="noStrike">
                <a:solidFill>
                  <a:srgbClr val="1E1E1E"/>
                </a:solidFill>
                <a:latin typeface="Calibri"/>
                <a:ea typeface="Calibri"/>
                <a:cs typeface="Calibri"/>
                <a:sym typeface="Calibri"/>
              </a:rPr>
              <a:t>female</a:t>
            </a:r>
            <a:endParaRPr b="0" i="0" sz="1050" u="none" cap="none" strike="noStrike">
              <a:solidFill>
                <a:schemeClr val="dk1"/>
              </a:solidFill>
              <a:latin typeface="Calibri"/>
              <a:ea typeface="Calibri"/>
              <a:cs typeface="Calibri"/>
              <a:sym typeface="Calibri"/>
            </a:endParaRPr>
          </a:p>
        </p:txBody>
      </p:sp>
      <p:sp>
        <p:nvSpPr>
          <p:cNvPr id="256" name="Google Shape;256;p14"/>
          <p:cNvSpPr/>
          <p:nvPr/>
        </p:nvSpPr>
        <p:spPr>
          <a:xfrm>
            <a:off x="502920" y="3291840"/>
            <a:ext cx="11185855" cy="137160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The broad age distribution (SD = 16.9 years) provides the statistical power required for the Section 4.9 demographic fairness audit across three age bands (&lt;50, 50–70, &gt;70).</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The near-balanced sex distribution (52.1% / 47.9%) similarly supports subgroup parity testing between male and female patients.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5"/>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63" name="Google Shape;263;p15"/>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64" name="Google Shape;264;p15"/>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265" name="Google Shape;265;p15"/>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266" name="Google Shape;266;p15"/>
          <p:cNvSpPr/>
          <p:nvPr/>
        </p:nvSpPr>
        <p:spPr>
          <a:xfrm>
            <a:off x="502920" y="274320"/>
            <a:ext cx="276423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502920" y="274320"/>
            <a:ext cx="276423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1 · DATA PREP &amp; EDA · 3.2</a:t>
            </a:r>
            <a:endParaRPr b="0" i="0" sz="1000" u="none" cap="none" strike="noStrike">
              <a:solidFill>
                <a:schemeClr val="dk1"/>
              </a:solidFill>
              <a:latin typeface="Calibri"/>
              <a:ea typeface="Calibri"/>
              <a:cs typeface="Calibri"/>
              <a:sym typeface="Calibri"/>
            </a:endParaRPr>
          </a:p>
        </p:txBody>
      </p:sp>
      <p:sp>
        <p:nvSpPr>
          <p:cNvPr id="268" name="Google Shape;268;p15"/>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Class Imbalance and Cost-Weight Derivation</a:t>
            </a:r>
            <a:endParaRPr b="0" i="0" sz="2400" u="none" cap="none" strike="noStrike">
              <a:solidFill>
                <a:schemeClr val="dk1"/>
              </a:solidFill>
              <a:latin typeface="Calibri"/>
              <a:ea typeface="Calibri"/>
              <a:cs typeface="Calibri"/>
              <a:sym typeface="Calibri"/>
            </a:endParaRPr>
          </a:p>
        </p:txBody>
      </p:sp>
      <p:sp>
        <p:nvSpPr>
          <p:cNvPr id="269" name="Google Shape;269;p15"/>
          <p:cNvSpPr/>
          <p:nvPr/>
        </p:nvSpPr>
        <p:spPr>
          <a:xfrm>
            <a:off x="502920" y="1463040"/>
            <a:ext cx="11185855" cy="246888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Exploratory analysis confirmed severe class skew between Normal Sinus Rhythm and the six pathological conditions, consistent with real-world prevalence but adversarial to naive classifier training.</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Dynamic positive-class weights (w_c) were calculated for each target c from the negative-to-positive sample ratio: w_c = N_neg,c / N_pos,c, penalizing misclassification on rare arrhythmias while maintaining lower weights for majority classes (e.g., w = 27.37 for PAC).</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This finding directly motivates the cost-weighted XGBoost training procedure Diaesh presents in Section 3.</a:t>
            </a:r>
            <a:endParaRPr b="0" i="0" sz="1250" u="none" cap="none" strike="noStrike">
              <a:solidFill>
                <a:schemeClr val="dk1"/>
              </a:solidFill>
              <a:latin typeface="Calibri"/>
              <a:ea typeface="Calibri"/>
              <a:cs typeface="Calibri"/>
              <a:sym typeface="Calibri"/>
            </a:endParaRPr>
          </a:p>
        </p:txBody>
      </p:sp>
      <p:sp>
        <p:nvSpPr>
          <p:cNvPr id="270" name="Google Shape;270;p15"/>
          <p:cNvSpPr/>
          <p:nvPr/>
        </p:nvSpPr>
        <p:spPr>
          <a:xfrm>
            <a:off x="502920" y="4160520"/>
            <a:ext cx="11185855" cy="1691640"/>
          </a:xfrm>
          <a:prstGeom prst="roundRect">
            <a:avLst>
              <a:gd fmla="val 4324" name="adj"/>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777240" y="42976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BEFF"/>
              </a:buClr>
              <a:buSzPts val="1350"/>
              <a:buFont typeface="Calibri"/>
              <a:buNone/>
            </a:pPr>
            <a:r>
              <a:rPr b="1" i="0" lang="en-US" sz="1350" u="none" cap="none" strike="noStrike">
                <a:solidFill>
                  <a:srgbClr val="71BEFF"/>
                </a:solidFill>
                <a:latin typeface="Calibri"/>
                <a:ea typeface="Calibri"/>
                <a:cs typeface="Calibri"/>
                <a:sym typeface="Calibri"/>
              </a:rPr>
              <a:t>Section 1 Summary</a:t>
            </a:r>
            <a:endParaRPr b="0" i="0" sz="1350" u="none" cap="none" strike="noStrike">
              <a:solidFill>
                <a:schemeClr val="dk1"/>
              </a:solidFill>
              <a:latin typeface="Calibri"/>
              <a:ea typeface="Calibri"/>
              <a:cs typeface="Calibri"/>
              <a:sym typeface="Calibri"/>
            </a:endParaRPr>
          </a:p>
        </p:txBody>
      </p:sp>
      <p:sp>
        <p:nvSpPr>
          <p:cNvPr id="272" name="Google Shape;272;p15"/>
          <p:cNvSpPr/>
          <p:nvPr/>
        </p:nvSpPr>
        <p:spPr>
          <a:xfrm>
            <a:off x="777240" y="4645152"/>
            <a:ext cx="10637215"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21,786 recordings retained · 30.33% carrying ≥1 quality flag (retained, not discarded) · demographic fields imputed via stratified median · w_c = 27.37 for PAC confirms severe imbalance</a:t>
            </a:r>
            <a:endParaRPr b="0" i="0" sz="1200" u="none" cap="none" strike="noStrike">
              <a:solidFill>
                <a:schemeClr val="dk1"/>
              </a:solidFill>
              <a:latin typeface="Calibri"/>
              <a:ea typeface="Calibri"/>
              <a:cs typeface="Calibri"/>
              <a:sym typeface="Calibri"/>
            </a:endParaRPr>
          </a:p>
        </p:txBody>
      </p:sp>
      <p:sp>
        <p:nvSpPr>
          <p:cNvPr id="273" name="Google Shape;273;p15"/>
          <p:cNvSpPr/>
          <p:nvPr/>
        </p:nvSpPr>
        <p:spPr>
          <a:xfrm>
            <a:off x="777240" y="5349240"/>
            <a:ext cx="106372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BEFF"/>
              </a:buClr>
              <a:buSzPts val="1200"/>
              <a:buFont typeface="Calibri"/>
              <a:buNone/>
            </a:pPr>
            <a:r>
              <a:rPr b="0" i="1" lang="en-US" sz="1200" u="none" cap="none" strike="noStrike">
                <a:solidFill>
                  <a:srgbClr val="71BEFF"/>
                </a:solidFill>
                <a:latin typeface="Calibri"/>
                <a:ea typeface="Calibri"/>
                <a:cs typeface="Calibri"/>
                <a:sym typeface="Calibri"/>
              </a:rPr>
              <a:t>Section 2 (Feature Engineering), presented by Diaesh Antony, follows.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6"/>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280" name="Google Shape;280;p16"/>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281" name="Google Shape;281;p16"/>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282" name="Google Shape;282;p16"/>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283" name="Google Shape;283;p16"/>
          <p:cNvSpPr/>
          <p:nvPr/>
        </p:nvSpPr>
        <p:spPr>
          <a:xfrm>
            <a:off x="502920" y="274320"/>
            <a:ext cx="3060497"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502920" y="274320"/>
            <a:ext cx="3060497"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2 · FEATURE ENGINEERING · 3.3</a:t>
            </a:r>
            <a:endParaRPr b="0" i="0" sz="1000" u="none" cap="none" strike="noStrike">
              <a:solidFill>
                <a:schemeClr val="dk1"/>
              </a:solidFill>
              <a:latin typeface="Calibri"/>
              <a:ea typeface="Calibri"/>
              <a:cs typeface="Calibri"/>
              <a:sym typeface="Calibri"/>
            </a:endParaRPr>
          </a:p>
        </p:txBody>
      </p:sp>
      <p:sp>
        <p:nvSpPr>
          <p:cNvPr id="285" name="Google Shape;285;p16"/>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Feature Engineering: Overview and Rationale</a:t>
            </a:r>
            <a:endParaRPr b="0" i="0" sz="2400" u="none" cap="none" strike="noStrike">
              <a:solidFill>
                <a:schemeClr val="dk1"/>
              </a:solidFill>
              <a:latin typeface="Calibri"/>
              <a:ea typeface="Calibri"/>
              <a:cs typeface="Calibri"/>
              <a:sym typeface="Calibri"/>
            </a:endParaRPr>
          </a:p>
        </p:txBody>
      </p:sp>
      <p:sp>
        <p:nvSpPr>
          <p:cNvPr id="286" name="Google Shape;286;p16"/>
          <p:cNvSpPr/>
          <p:nvPr/>
        </p:nvSpPr>
        <p:spPr>
          <a:xfrm>
            <a:off x="502920" y="1417320"/>
            <a:ext cx="111858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50"/>
              <a:buFont typeface="Calibri"/>
              <a:buNone/>
            </a:pPr>
            <a:r>
              <a:rPr b="0" i="1" lang="en-US" sz="1350" u="none" cap="none" strike="noStrike">
                <a:solidFill>
                  <a:srgbClr val="1E1E1E"/>
                </a:solidFill>
                <a:latin typeface="Calibri"/>
                <a:ea typeface="Calibri"/>
                <a:cs typeface="Calibri"/>
                <a:sym typeface="Calibri"/>
              </a:rPr>
              <a:t>"We engineered 45 features spanning four categories." — Report Section 3.3</a:t>
            </a:r>
            <a:endParaRPr b="0" i="0" sz="1350" u="none" cap="none" strike="noStrike">
              <a:solidFill>
                <a:schemeClr val="dk1"/>
              </a:solidFill>
              <a:latin typeface="Calibri"/>
              <a:ea typeface="Calibri"/>
              <a:cs typeface="Calibri"/>
              <a:sym typeface="Calibri"/>
            </a:endParaRPr>
          </a:p>
        </p:txBody>
      </p:sp>
      <p:sp>
        <p:nvSpPr>
          <p:cNvPr id="287" name="Google Shape;287;p16"/>
          <p:cNvSpPr/>
          <p:nvPr/>
        </p:nvSpPr>
        <p:spPr>
          <a:xfrm>
            <a:off x="502920" y="2011680"/>
            <a:ext cx="11185855" cy="896112"/>
          </a:xfrm>
          <a:prstGeom prst="roundRect">
            <a:avLst>
              <a:gd fmla="val 6122"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685800" y="2011680"/>
            <a:ext cx="548640" cy="8961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800"/>
              <a:buFont typeface="Cambria"/>
              <a:buNone/>
            </a:pPr>
            <a:r>
              <a:rPr b="1" i="0" lang="en-US" sz="1800" u="none" cap="none" strike="noStrike">
                <a:solidFill>
                  <a:srgbClr val="0070B9"/>
                </a:solidFill>
                <a:latin typeface="Cambria"/>
                <a:ea typeface="Cambria"/>
                <a:cs typeface="Cambria"/>
                <a:sym typeface="Cambria"/>
              </a:rPr>
              <a:t>(a)</a:t>
            </a:r>
            <a:endParaRPr b="0" i="0" sz="1800" u="none" cap="none" strike="noStrike">
              <a:solidFill>
                <a:schemeClr val="dk1"/>
              </a:solidFill>
              <a:latin typeface="Calibri"/>
              <a:ea typeface="Calibri"/>
              <a:cs typeface="Calibri"/>
              <a:sym typeface="Calibri"/>
            </a:endParaRPr>
          </a:p>
        </p:txBody>
      </p:sp>
      <p:sp>
        <p:nvSpPr>
          <p:cNvPr id="289" name="Google Shape;289;p16"/>
          <p:cNvSpPr/>
          <p:nvPr/>
        </p:nvSpPr>
        <p:spPr>
          <a:xfrm>
            <a:off x="1325880" y="21031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00"/>
              <a:buFont typeface="Calibri"/>
              <a:buNone/>
            </a:pPr>
            <a:r>
              <a:rPr b="1" i="0" lang="en-US" sz="1300" u="none" cap="none" strike="noStrike">
                <a:solidFill>
                  <a:srgbClr val="003B70"/>
                </a:solidFill>
                <a:latin typeface="Calibri"/>
                <a:ea typeface="Calibri"/>
                <a:cs typeface="Calibri"/>
                <a:sym typeface="Calibri"/>
              </a:rPr>
              <a:t>Heart Rate &amp; Timing Metrics</a:t>
            </a:r>
            <a:endParaRPr b="0" i="0" sz="1300" u="none" cap="none" strike="noStrike">
              <a:solidFill>
                <a:schemeClr val="dk1"/>
              </a:solidFill>
              <a:latin typeface="Calibri"/>
              <a:ea typeface="Calibri"/>
              <a:cs typeface="Calibri"/>
              <a:sym typeface="Calibri"/>
            </a:endParaRPr>
          </a:p>
        </p:txBody>
      </p:sp>
      <p:sp>
        <p:nvSpPr>
          <p:cNvPr id="290" name="Google Shape;290;p16"/>
          <p:cNvSpPr/>
          <p:nvPr/>
        </p:nvSpPr>
        <p:spPr>
          <a:xfrm>
            <a:off x="1325880" y="2450592"/>
            <a:ext cx="1018001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mean RR, SDNN, RMSSD, min/max RR, median RR, heart rate (bpm)</a:t>
            </a:r>
            <a:endParaRPr b="0" i="0" sz="1100" u="none" cap="none" strike="noStrike">
              <a:solidFill>
                <a:schemeClr val="dk1"/>
              </a:solidFill>
              <a:latin typeface="Calibri"/>
              <a:ea typeface="Calibri"/>
              <a:cs typeface="Calibri"/>
              <a:sym typeface="Calibri"/>
            </a:endParaRPr>
          </a:p>
        </p:txBody>
      </p:sp>
      <p:sp>
        <p:nvSpPr>
          <p:cNvPr id="291" name="Google Shape;291;p16"/>
          <p:cNvSpPr/>
          <p:nvPr/>
        </p:nvSpPr>
        <p:spPr>
          <a:xfrm>
            <a:off x="502920" y="3017520"/>
            <a:ext cx="11185855" cy="896112"/>
          </a:xfrm>
          <a:prstGeom prst="roundRect">
            <a:avLst>
              <a:gd fmla="val 6122"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685800" y="3017520"/>
            <a:ext cx="548640" cy="8961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800"/>
              <a:buFont typeface="Cambria"/>
              <a:buNone/>
            </a:pPr>
            <a:r>
              <a:rPr b="1" i="0" lang="en-US" sz="1800" u="none" cap="none" strike="noStrike">
                <a:solidFill>
                  <a:srgbClr val="0070B9"/>
                </a:solidFill>
                <a:latin typeface="Cambria"/>
                <a:ea typeface="Cambria"/>
                <a:cs typeface="Cambria"/>
                <a:sym typeface="Cambria"/>
              </a:rPr>
              <a:t>(b)</a:t>
            </a:r>
            <a:endParaRPr b="0" i="0" sz="1800" u="none" cap="none" strike="noStrike">
              <a:solidFill>
                <a:schemeClr val="dk1"/>
              </a:solidFill>
              <a:latin typeface="Calibri"/>
              <a:ea typeface="Calibri"/>
              <a:cs typeface="Calibri"/>
              <a:sym typeface="Calibri"/>
            </a:endParaRPr>
          </a:p>
        </p:txBody>
      </p:sp>
      <p:sp>
        <p:nvSpPr>
          <p:cNvPr id="293" name="Google Shape;293;p16"/>
          <p:cNvSpPr/>
          <p:nvPr/>
        </p:nvSpPr>
        <p:spPr>
          <a:xfrm>
            <a:off x="1325880" y="31089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00"/>
              <a:buFont typeface="Calibri"/>
              <a:buNone/>
            </a:pPr>
            <a:r>
              <a:rPr b="1" i="0" lang="en-US" sz="1300" u="none" cap="none" strike="noStrike">
                <a:solidFill>
                  <a:srgbClr val="003B70"/>
                </a:solidFill>
                <a:latin typeface="Calibri"/>
                <a:ea typeface="Calibri"/>
                <a:cs typeface="Calibri"/>
                <a:sym typeface="Calibri"/>
              </a:rPr>
              <a:t>Waveform Morphology Proxies</a:t>
            </a:r>
            <a:endParaRPr b="0" i="0" sz="1300" u="none" cap="none" strike="noStrike">
              <a:solidFill>
                <a:schemeClr val="dk1"/>
              </a:solidFill>
              <a:latin typeface="Calibri"/>
              <a:ea typeface="Calibri"/>
              <a:cs typeface="Calibri"/>
              <a:sym typeface="Calibri"/>
            </a:endParaRPr>
          </a:p>
        </p:txBody>
      </p:sp>
      <p:sp>
        <p:nvSpPr>
          <p:cNvPr id="294" name="Google Shape;294;p16"/>
          <p:cNvSpPr/>
          <p:nvPr/>
        </p:nvSpPr>
        <p:spPr>
          <a:xfrm>
            <a:off x="1325880" y="3456432"/>
            <a:ext cx="1018001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QRS width proxy, PR interval proxy, R-peak amplitude statistics, skewness, kurtosis</a:t>
            </a:r>
            <a:endParaRPr b="0" i="0" sz="1100" u="none" cap="none" strike="noStrike">
              <a:solidFill>
                <a:schemeClr val="dk1"/>
              </a:solidFill>
              <a:latin typeface="Calibri"/>
              <a:ea typeface="Calibri"/>
              <a:cs typeface="Calibri"/>
              <a:sym typeface="Calibri"/>
            </a:endParaRPr>
          </a:p>
        </p:txBody>
      </p:sp>
      <p:sp>
        <p:nvSpPr>
          <p:cNvPr id="295" name="Google Shape;295;p16"/>
          <p:cNvSpPr/>
          <p:nvPr/>
        </p:nvSpPr>
        <p:spPr>
          <a:xfrm>
            <a:off x="502920" y="4023360"/>
            <a:ext cx="11185855" cy="896112"/>
          </a:xfrm>
          <a:prstGeom prst="roundRect">
            <a:avLst>
              <a:gd fmla="val 6122"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685800" y="4023360"/>
            <a:ext cx="548640" cy="8961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800"/>
              <a:buFont typeface="Cambria"/>
              <a:buNone/>
            </a:pPr>
            <a:r>
              <a:rPr b="1" i="0" lang="en-US" sz="1800" u="none" cap="none" strike="noStrike">
                <a:solidFill>
                  <a:srgbClr val="0070B9"/>
                </a:solidFill>
                <a:latin typeface="Cambria"/>
                <a:ea typeface="Cambria"/>
                <a:cs typeface="Cambria"/>
                <a:sym typeface="Cambria"/>
              </a:rPr>
              <a:t>(c)</a:t>
            </a:r>
            <a:endParaRPr b="0" i="0" sz="1800" u="none" cap="none" strike="noStrike">
              <a:solidFill>
                <a:schemeClr val="dk1"/>
              </a:solidFill>
              <a:latin typeface="Calibri"/>
              <a:ea typeface="Calibri"/>
              <a:cs typeface="Calibri"/>
              <a:sym typeface="Calibri"/>
            </a:endParaRPr>
          </a:p>
        </p:txBody>
      </p:sp>
      <p:sp>
        <p:nvSpPr>
          <p:cNvPr id="297" name="Google Shape;297;p16"/>
          <p:cNvSpPr/>
          <p:nvPr/>
        </p:nvSpPr>
        <p:spPr>
          <a:xfrm>
            <a:off x="1325880" y="411480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00"/>
              <a:buFont typeface="Calibri"/>
              <a:buNone/>
            </a:pPr>
            <a:r>
              <a:rPr b="1" i="0" lang="en-US" sz="1300" u="none" cap="none" strike="noStrike">
                <a:solidFill>
                  <a:srgbClr val="003B70"/>
                </a:solidFill>
                <a:latin typeface="Calibri"/>
                <a:ea typeface="Calibri"/>
                <a:cs typeface="Calibri"/>
                <a:sym typeface="Calibri"/>
              </a:rPr>
              <a:t>Power Spectral Metrics</a:t>
            </a:r>
            <a:endParaRPr b="0" i="0" sz="1300" u="none" cap="none" strike="noStrike">
              <a:solidFill>
                <a:schemeClr val="dk1"/>
              </a:solidFill>
              <a:latin typeface="Calibri"/>
              <a:ea typeface="Calibri"/>
              <a:cs typeface="Calibri"/>
              <a:sym typeface="Calibri"/>
            </a:endParaRPr>
          </a:p>
        </p:txBody>
      </p:sp>
      <p:sp>
        <p:nvSpPr>
          <p:cNvPr id="298" name="Google Shape;298;p16"/>
          <p:cNvSpPr/>
          <p:nvPr/>
        </p:nvSpPr>
        <p:spPr>
          <a:xfrm>
            <a:off x="1325880" y="4462272"/>
            <a:ext cx="1018001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high/low-frequency band energy ratios, spectral entropy, power spectral density</a:t>
            </a:r>
            <a:endParaRPr b="0" i="0" sz="1100" u="none" cap="none" strike="noStrike">
              <a:solidFill>
                <a:schemeClr val="dk1"/>
              </a:solidFill>
              <a:latin typeface="Calibri"/>
              <a:ea typeface="Calibri"/>
              <a:cs typeface="Calibri"/>
              <a:sym typeface="Calibri"/>
            </a:endParaRPr>
          </a:p>
        </p:txBody>
      </p:sp>
      <p:sp>
        <p:nvSpPr>
          <p:cNvPr id="299" name="Google Shape;299;p16"/>
          <p:cNvSpPr/>
          <p:nvPr/>
        </p:nvSpPr>
        <p:spPr>
          <a:xfrm>
            <a:off x="502920" y="5029200"/>
            <a:ext cx="11185855" cy="896112"/>
          </a:xfrm>
          <a:prstGeom prst="roundRect">
            <a:avLst>
              <a:gd fmla="val 6122"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685800" y="5029200"/>
            <a:ext cx="548640" cy="8961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800"/>
              <a:buFont typeface="Cambria"/>
              <a:buNone/>
            </a:pPr>
            <a:r>
              <a:rPr b="1" i="0" lang="en-US" sz="1800" u="none" cap="none" strike="noStrike">
                <a:solidFill>
                  <a:srgbClr val="0070B9"/>
                </a:solidFill>
                <a:latin typeface="Cambria"/>
                <a:ea typeface="Cambria"/>
                <a:cs typeface="Cambria"/>
                <a:sym typeface="Cambria"/>
              </a:rPr>
              <a:t>(d)</a:t>
            </a:r>
            <a:endParaRPr b="0" i="0" sz="1800" u="none" cap="none" strike="noStrike">
              <a:solidFill>
                <a:schemeClr val="dk1"/>
              </a:solidFill>
              <a:latin typeface="Calibri"/>
              <a:ea typeface="Calibri"/>
              <a:cs typeface="Calibri"/>
              <a:sym typeface="Calibri"/>
            </a:endParaRPr>
          </a:p>
        </p:txBody>
      </p:sp>
      <p:sp>
        <p:nvSpPr>
          <p:cNvPr id="301" name="Google Shape;301;p16"/>
          <p:cNvSpPr/>
          <p:nvPr/>
        </p:nvSpPr>
        <p:spPr>
          <a:xfrm>
            <a:off x="1325880" y="512064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00"/>
              <a:buFont typeface="Calibri"/>
              <a:buNone/>
            </a:pPr>
            <a:r>
              <a:rPr b="1" i="0" lang="en-US" sz="1300" u="none" cap="none" strike="noStrike">
                <a:solidFill>
                  <a:srgbClr val="003B70"/>
                </a:solidFill>
                <a:latin typeface="Calibri"/>
                <a:ea typeface="Calibri"/>
                <a:cs typeface="Calibri"/>
                <a:sym typeface="Calibri"/>
              </a:rPr>
              <a:t>Encoded Metadata &amp; Quality Indicators</a:t>
            </a:r>
            <a:endParaRPr b="0" i="0" sz="1300" u="none" cap="none" strike="noStrike">
              <a:solidFill>
                <a:schemeClr val="dk1"/>
              </a:solidFill>
              <a:latin typeface="Calibri"/>
              <a:ea typeface="Calibri"/>
              <a:cs typeface="Calibri"/>
              <a:sym typeface="Calibri"/>
            </a:endParaRPr>
          </a:p>
        </p:txBody>
      </p:sp>
      <p:sp>
        <p:nvSpPr>
          <p:cNvPr id="302" name="Google Shape;302;p16"/>
          <p:cNvSpPr/>
          <p:nvPr/>
        </p:nvSpPr>
        <p:spPr>
          <a:xfrm>
            <a:off x="1325880" y="5468112"/>
            <a:ext cx="1018001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age, sex, height, weight, electrical heart axis, CARE-I quality flags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09" name="Google Shape;309;p17"/>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10" name="Google Shape;310;p17"/>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11" name="Google Shape;311;p17"/>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312" name="Google Shape;312;p17"/>
          <p:cNvSpPr/>
          <p:nvPr/>
        </p:nvSpPr>
        <p:spPr>
          <a:xfrm>
            <a:off x="502920" y="274320"/>
            <a:ext cx="3282696"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p:nvPr/>
        </p:nvSpPr>
        <p:spPr>
          <a:xfrm>
            <a:off x="502920" y="274320"/>
            <a:ext cx="32826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2 · FEATURE ENGINEERING · 3.3(A)</a:t>
            </a:r>
            <a:endParaRPr b="0" i="0" sz="1000" u="none" cap="none" strike="noStrike">
              <a:solidFill>
                <a:schemeClr val="dk1"/>
              </a:solidFill>
              <a:latin typeface="Calibri"/>
              <a:ea typeface="Calibri"/>
              <a:cs typeface="Calibri"/>
              <a:sym typeface="Calibri"/>
            </a:endParaRPr>
          </a:p>
        </p:txBody>
      </p:sp>
      <p:sp>
        <p:nvSpPr>
          <p:cNvPr id="314" name="Google Shape;314;p17"/>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Heart Rate &amp; Timing Metrics</a:t>
            </a:r>
            <a:endParaRPr b="0" i="0" sz="2400" u="none" cap="none" strike="noStrike">
              <a:solidFill>
                <a:schemeClr val="dk1"/>
              </a:solidFill>
              <a:latin typeface="Calibri"/>
              <a:ea typeface="Calibri"/>
              <a:cs typeface="Calibri"/>
              <a:sym typeface="Calibri"/>
            </a:endParaRPr>
          </a:p>
        </p:txBody>
      </p:sp>
      <p:sp>
        <p:nvSpPr>
          <p:cNvPr id="315" name="Google Shape;315;p17"/>
          <p:cNvSpPr/>
          <p:nvPr/>
        </p:nvSpPr>
        <p:spPr>
          <a:xfrm>
            <a:off x="502920" y="1463040"/>
            <a:ext cx="11185855" cy="45720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50"/>
              <a:buFont typeface="Calibri"/>
              <a:buChar char="●"/>
            </a:pPr>
            <a:r>
              <a:rPr b="0" i="0" lang="en-US" sz="1350" u="none" cap="none" strike="noStrike">
                <a:solidFill>
                  <a:srgbClr val="1E1E1E"/>
                </a:solidFill>
                <a:latin typeface="Calibri"/>
                <a:ea typeface="Calibri"/>
                <a:cs typeface="Calibri"/>
                <a:sym typeface="Calibri"/>
              </a:rPr>
              <a:t>Features: mean/median RR interval, SDNN, RMSSD, min/max RR, heart rate (bpm).</a:t>
            </a:r>
            <a:endParaRPr b="0" i="0" sz="1350" u="none" cap="none" strike="noStrike">
              <a:solidFill>
                <a:schemeClr val="dk1"/>
              </a:solidFill>
              <a:latin typeface="Calibri"/>
              <a:ea typeface="Calibri"/>
              <a:cs typeface="Calibri"/>
              <a:sym typeface="Calibri"/>
            </a:endParaRPr>
          </a:p>
        </p:txBody>
      </p:sp>
      <p:sp>
        <p:nvSpPr>
          <p:cNvPr id="316" name="Google Shape;316;p17"/>
          <p:cNvSpPr/>
          <p:nvPr/>
        </p:nvSpPr>
        <p:spPr>
          <a:xfrm>
            <a:off x="502920" y="201168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350"/>
              <a:buFont typeface="Calibri"/>
              <a:buNone/>
            </a:pPr>
            <a:r>
              <a:rPr b="1" i="0" lang="en-US" sz="1350" u="none" cap="none" strike="noStrike">
                <a:solidFill>
                  <a:srgbClr val="0070B9"/>
                </a:solidFill>
                <a:latin typeface="Calibri"/>
                <a:ea typeface="Calibri"/>
                <a:cs typeface="Calibri"/>
                <a:sym typeface="Calibri"/>
              </a:rPr>
              <a:t>Diagnostic Separation Evidence (Report §4.2)</a:t>
            </a:r>
            <a:endParaRPr b="0" i="0" sz="1350" u="none" cap="none" strike="noStrike">
              <a:solidFill>
                <a:schemeClr val="dk1"/>
              </a:solidFill>
              <a:latin typeface="Calibri"/>
              <a:ea typeface="Calibri"/>
              <a:cs typeface="Calibri"/>
              <a:sym typeface="Calibri"/>
            </a:endParaRPr>
          </a:p>
        </p:txBody>
      </p:sp>
      <p:graphicFrame>
        <p:nvGraphicFramePr>
          <p:cNvPr id="317" name="Google Shape;317;p17"/>
          <p:cNvGraphicFramePr/>
          <p:nvPr/>
        </p:nvGraphicFramePr>
        <p:xfrm>
          <a:off x="502920" y="2377440"/>
          <a:ext cx="3000000" cy="3000000"/>
        </p:xfrm>
        <a:graphic>
          <a:graphicData uri="http://schemas.openxmlformats.org/drawingml/2006/table">
            <a:tbl>
              <a:tblPr>
                <a:noFill/>
                <a:tableStyleId>{5077FDEB-68C0-4C12-AD4D-F4B8976BB019}</a:tableStyleId>
              </a:tblPr>
              <a:tblGrid>
                <a:gridCol w="4937750"/>
                <a:gridCol w="2560325"/>
              </a:tblGrid>
              <a:tr h="475500">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Metric / Comparison</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Value</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75500">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NSR mean RR interval</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820 ± 110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75500">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BRADY mean RR interval</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&gt; 1,000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TACHY mean RR interval</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&lt; 600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75500">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AFb/AFl mean RMSSD vs. NSR</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142 ms vs. 34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bl>
          </a:graphicData>
        </a:graphic>
      </p:graphicFrame>
      <p:sp>
        <p:nvSpPr>
          <p:cNvPr id="318" name="Google Shape;318;p17"/>
          <p:cNvSpPr/>
          <p:nvPr/>
        </p:nvSpPr>
        <p:spPr>
          <a:xfrm>
            <a:off x="8275320" y="2377440"/>
            <a:ext cx="3017520" cy="24688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E1E1E"/>
              </a:buClr>
              <a:buSzPts val="1150"/>
              <a:buFont typeface="Calibri"/>
              <a:buNone/>
            </a:pPr>
            <a:r>
              <a:rPr b="0" i="1" lang="en-US" sz="1150" u="none" cap="none" strike="noStrike">
                <a:solidFill>
                  <a:srgbClr val="1E1E1E"/>
                </a:solidFill>
                <a:latin typeface="Calibri"/>
                <a:ea typeface="Calibri"/>
                <a:cs typeface="Calibri"/>
                <a:sym typeface="Calibri"/>
              </a:rPr>
              <a:t>RR interval features cleanly separate Bradycardia and Tachycardia from Normal Sinus Rhythm; RMSSD and SDNN show a 4× elevation in Atrial Fibrillation/Flutter versus baseline, consistent with clinically expected beat-to-beat variability.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8"/>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25" name="Google Shape;325;p18"/>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26" name="Google Shape;326;p18"/>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27" name="Google Shape;327;p18"/>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328" name="Google Shape;328;p18"/>
          <p:cNvSpPr/>
          <p:nvPr/>
        </p:nvSpPr>
        <p:spPr>
          <a:xfrm>
            <a:off x="502920" y="274320"/>
            <a:ext cx="3282696"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502920" y="274320"/>
            <a:ext cx="32826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2 · FEATURE ENGINEERING · 3.3(B)</a:t>
            </a:r>
            <a:endParaRPr b="0" i="0" sz="1000" u="none" cap="none" strike="noStrike">
              <a:solidFill>
                <a:schemeClr val="dk1"/>
              </a:solidFill>
              <a:latin typeface="Calibri"/>
              <a:ea typeface="Calibri"/>
              <a:cs typeface="Calibri"/>
              <a:sym typeface="Calibri"/>
            </a:endParaRPr>
          </a:p>
        </p:txBody>
      </p:sp>
      <p:sp>
        <p:nvSpPr>
          <p:cNvPr id="330" name="Google Shape;330;p18"/>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Waveform Morphology Proxies</a:t>
            </a:r>
            <a:endParaRPr b="0" i="0" sz="2400" u="none" cap="none" strike="noStrike">
              <a:solidFill>
                <a:schemeClr val="dk1"/>
              </a:solidFill>
              <a:latin typeface="Calibri"/>
              <a:ea typeface="Calibri"/>
              <a:cs typeface="Calibri"/>
              <a:sym typeface="Calibri"/>
            </a:endParaRPr>
          </a:p>
        </p:txBody>
      </p:sp>
      <p:sp>
        <p:nvSpPr>
          <p:cNvPr id="331" name="Google Shape;331;p18"/>
          <p:cNvSpPr/>
          <p:nvPr/>
        </p:nvSpPr>
        <p:spPr>
          <a:xfrm>
            <a:off x="502920" y="1463040"/>
            <a:ext cx="11185855" cy="45720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50"/>
              <a:buFont typeface="Calibri"/>
              <a:buChar char="●"/>
            </a:pPr>
            <a:r>
              <a:rPr b="0" i="0" lang="en-US" sz="1350" u="none" cap="none" strike="noStrike">
                <a:solidFill>
                  <a:srgbClr val="1E1E1E"/>
                </a:solidFill>
                <a:latin typeface="Calibri"/>
                <a:ea typeface="Calibri"/>
                <a:cs typeface="Calibri"/>
                <a:sym typeface="Calibri"/>
              </a:rPr>
              <a:t>Features: QRS width proxy, PR interval proxy, R-peak amplitude statistics, skewness, kurtosis.</a:t>
            </a:r>
            <a:endParaRPr b="0" i="0" sz="1350" u="none" cap="none" strike="noStrike">
              <a:solidFill>
                <a:schemeClr val="dk1"/>
              </a:solidFill>
              <a:latin typeface="Calibri"/>
              <a:ea typeface="Calibri"/>
              <a:cs typeface="Calibri"/>
              <a:sym typeface="Calibri"/>
            </a:endParaRPr>
          </a:p>
        </p:txBody>
      </p:sp>
      <p:sp>
        <p:nvSpPr>
          <p:cNvPr id="332" name="Google Shape;332;p18"/>
          <p:cNvSpPr/>
          <p:nvPr/>
        </p:nvSpPr>
        <p:spPr>
          <a:xfrm>
            <a:off x="502920" y="201168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350"/>
              <a:buFont typeface="Calibri"/>
              <a:buNone/>
            </a:pPr>
            <a:r>
              <a:rPr b="1" i="0" lang="en-US" sz="1350" u="none" cap="none" strike="noStrike">
                <a:solidFill>
                  <a:srgbClr val="0070B9"/>
                </a:solidFill>
                <a:latin typeface="Calibri"/>
                <a:ea typeface="Calibri"/>
                <a:cs typeface="Calibri"/>
                <a:sym typeface="Calibri"/>
              </a:rPr>
              <a:t>Diagnostic Separation Evidence (Report §4.2)</a:t>
            </a:r>
            <a:endParaRPr b="0" i="0" sz="1350" u="none" cap="none" strike="noStrike">
              <a:solidFill>
                <a:schemeClr val="dk1"/>
              </a:solidFill>
              <a:latin typeface="Calibri"/>
              <a:ea typeface="Calibri"/>
              <a:cs typeface="Calibri"/>
              <a:sym typeface="Calibri"/>
            </a:endParaRPr>
          </a:p>
        </p:txBody>
      </p:sp>
      <p:graphicFrame>
        <p:nvGraphicFramePr>
          <p:cNvPr id="333" name="Google Shape;333;p18"/>
          <p:cNvGraphicFramePr/>
          <p:nvPr/>
        </p:nvGraphicFramePr>
        <p:xfrm>
          <a:off x="502920" y="2377440"/>
          <a:ext cx="3000000" cy="3000000"/>
        </p:xfrm>
        <a:graphic>
          <a:graphicData uri="http://schemas.openxmlformats.org/drawingml/2006/table">
            <a:tbl>
              <a:tblPr>
                <a:noFill/>
                <a:tableStyleId>{5077FDEB-68C0-4C12-AD4D-F4B8976BB019}</a:tableStyleId>
              </a:tblPr>
              <a:tblGrid>
                <a:gridCol w="4937750"/>
                <a:gridCol w="2560325"/>
              </a:tblGrid>
              <a:tr h="502925">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Metric / Comparison</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Value</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502925">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PVC mean QRS width proxy</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138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Normal QRS width</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88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1AV PR interval proxy threshold</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250"/>
                        <a:buFont typeface="Calibri"/>
                        <a:buNone/>
                      </a:pPr>
                      <a:r>
                        <a:rPr lang="en-US" sz="1250" u="none" cap="none" strike="noStrike">
                          <a:solidFill>
                            <a:srgbClr val="1E1E1E"/>
                          </a:solidFill>
                          <a:latin typeface="Calibri"/>
                          <a:ea typeface="Calibri"/>
                          <a:cs typeface="Calibri"/>
                          <a:sym typeface="Calibri"/>
                        </a:rPr>
                        <a:t>&gt; 200 ms</a:t>
                      </a:r>
                      <a:endParaRPr sz="12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334" name="Google Shape;334;p18"/>
          <p:cNvSpPr/>
          <p:nvPr/>
        </p:nvSpPr>
        <p:spPr>
          <a:xfrm>
            <a:off x="8275320" y="2377440"/>
            <a:ext cx="3017520" cy="2103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E1E1E"/>
              </a:buClr>
              <a:buSzPts val="1150"/>
              <a:buFont typeface="Calibri"/>
              <a:buNone/>
            </a:pPr>
            <a:r>
              <a:rPr b="0" i="1" lang="en-US" sz="1150" u="none" cap="none" strike="noStrike">
                <a:solidFill>
                  <a:srgbClr val="1E1E1E"/>
                </a:solidFill>
                <a:latin typeface="Calibri"/>
                <a:ea typeface="Calibri"/>
                <a:cs typeface="Calibri"/>
                <a:sym typeface="Calibri"/>
              </a:rPr>
              <a:t>QRS width proxy isolates ectopic ventricular beats (PVC) via a 57% widening relative to normal conduction; PR interval proxy directly encodes the AV nodal delay defining 1st-Degree AV Block.</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9"/>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41" name="Google Shape;341;p19"/>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42" name="Google Shape;342;p19"/>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43" name="Google Shape;343;p19"/>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44" name="Google Shape;344;p19"/>
          <p:cNvSpPr/>
          <p:nvPr/>
        </p:nvSpPr>
        <p:spPr>
          <a:xfrm>
            <a:off x="502920" y="274320"/>
            <a:ext cx="3282696"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502920" y="274320"/>
            <a:ext cx="32826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2 · FEATURE ENGINEERING · 3.3(C)</a:t>
            </a:r>
            <a:endParaRPr b="0" i="0" sz="1000" u="none" cap="none" strike="noStrike">
              <a:solidFill>
                <a:schemeClr val="dk1"/>
              </a:solidFill>
              <a:latin typeface="Calibri"/>
              <a:ea typeface="Calibri"/>
              <a:cs typeface="Calibri"/>
              <a:sym typeface="Calibri"/>
            </a:endParaRPr>
          </a:p>
        </p:txBody>
      </p:sp>
      <p:sp>
        <p:nvSpPr>
          <p:cNvPr id="346" name="Google Shape;346;p19"/>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Power Spectral Metrics</a:t>
            </a:r>
            <a:endParaRPr b="0" i="0" sz="2400" u="none" cap="none" strike="noStrike">
              <a:solidFill>
                <a:schemeClr val="dk1"/>
              </a:solidFill>
              <a:latin typeface="Calibri"/>
              <a:ea typeface="Calibri"/>
              <a:cs typeface="Calibri"/>
              <a:sym typeface="Calibri"/>
            </a:endParaRPr>
          </a:p>
        </p:txBody>
      </p:sp>
      <p:sp>
        <p:nvSpPr>
          <p:cNvPr id="347" name="Google Shape;347;p19"/>
          <p:cNvSpPr/>
          <p:nvPr/>
        </p:nvSpPr>
        <p:spPr>
          <a:xfrm>
            <a:off x="502920" y="1554480"/>
            <a:ext cx="11185855" cy="274320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50"/>
              <a:buFont typeface="Calibri"/>
              <a:buChar char="●"/>
            </a:pPr>
            <a:r>
              <a:rPr b="0" i="0" lang="en-US" sz="1350" u="none" cap="none" strike="noStrike">
                <a:solidFill>
                  <a:srgbClr val="1E1E1E"/>
                </a:solidFill>
                <a:latin typeface="Calibri"/>
                <a:ea typeface="Calibri"/>
                <a:cs typeface="Calibri"/>
                <a:sym typeface="Calibri"/>
              </a:rPr>
              <a:t>Features: high/low-frequency band energy ratio, spectral entropy, power spectral density (PSD).</a:t>
            </a:r>
            <a:endParaRPr b="0" i="0" sz="13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50"/>
              <a:buFont typeface="Calibri"/>
              <a:buChar char="●"/>
            </a:pPr>
            <a:r>
              <a:rPr b="0" i="0" lang="en-US" sz="1350" u="none" cap="none" strike="noStrike">
                <a:solidFill>
                  <a:srgbClr val="1E1E1E"/>
                </a:solidFill>
                <a:latin typeface="Calibri"/>
                <a:ea typeface="Calibri"/>
                <a:cs typeface="Calibri"/>
                <a:sym typeface="Calibri"/>
              </a:rPr>
              <a:t>Section 4.2 finding: high-to-low frequency band energy ratios separated noisy ambulatory signals from clean ECG traces — this category functions as an implicit signal-quality detector, complementing the explicit CARE-I flags from Section 1.</a:t>
            </a:r>
            <a:endParaRPr b="0" i="0" sz="13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50"/>
              <a:buFont typeface="Calibri"/>
              <a:buChar char="●"/>
            </a:pPr>
            <a:r>
              <a:rPr b="0" i="0" lang="en-US" sz="1350" u="none" cap="none" strike="noStrike">
                <a:solidFill>
                  <a:srgbClr val="1E1E1E"/>
                </a:solidFill>
                <a:latin typeface="Calibri"/>
                <a:ea typeface="Calibri"/>
                <a:cs typeface="Calibri"/>
                <a:sym typeface="Calibri"/>
              </a:rPr>
              <a:t>Spectral entropy quantifies the disorder of the frequency content; lower entropy is associated with cleaner, more periodic rhythms.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0"/>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54" name="Google Shape;354;p20"/>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55" name="Google Shape;355;p20"/>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56" name="Google Shape;356;p20"/>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357" name="Google Shape;357;p20"/>
          <p:cNvSpPr/>
          <p:nvPr/>
        </p:nvSpPr>
        <p:spPr>
          <a:xfrm>
            <a:off x="502920" y="274320"/>
            <a:ext cx="3282696"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0"/>
          <p:cNvSpPr/>
          <p:nvPr/>
        </p:nvSpPr>
        <p:spPr>
          <a:xfrm>
            <a:off x="502920" y="274320"/>
            <a:ext cx="328269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2 · FEATURE ENGINEERING · 3.3(D)</a:t>
            </a:r>
            <a:endParaRPr b="0" i="0" sz="1000" u="none" cap="none" strike="noStrike">
              <a:solidFill>
                <a:schemeClr val="dk1"/>
              </a:solidFill>
              <a:latin typeface="Calibri"/>
              <a:ea typeface="Calibri"/>
              <a:cs typeface="Calibri"/>
              <a:sym typeface="Calibri"/>
            </a:endParaRPr>
          </a:p>
        </p:txBody>
      </p:sp>
      <p:sp>
        <p:nvSpPr>
          <p:cNvPr id="359" name="Google Shape;359;p20"/>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Encoded Metadata &amp; Quality Indicators</a:t>
            </a:r>
            <a:endParaRPr b="0" i="0" sz="2400" u="none" cap="none" strike="noStrike">
              <a:solidFill>
                <a:schemeClr val="dk1"/>
              </a:solidFill>
              <a:latin typeface="Calibri"/>
              <a:ea typeface="Calibri"/>
              <a:cs typeface="Calibri"/>
              <a:sym typeface="Calibri"/>
            </a:endParaRPr>
          </a:p>
        </p:txBody>
      </p:sp>
      <p:sp>
        <p:nvSpPr>
          <p:cNvPr id="360" name="Google Shape;360;p20"/>
          <p:cNvSpPr/>
          <p:nvPr/>
        </p:nvSpPr>
        <p:spPr>
          <a:xfrm>
            <a:off x="502920" y="1463040"/>
            <a:ext cx="11185855" cy="155448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Features: age, sex, height, weight, electrical heart axis, and the 6 CARE-I quality flags from Section 1, encoded directly as model inputs.</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Rationale: baseline rhythm parameters (e.g., resting heart rate, PR interval) shift systematically with age and sex; encoding quality flags allows the model to implicitly discount low-confidence signal regions during training.</a:t>
            </a:r>
            <a:endParaRPr b="0" i="0" sz="1250" u="none" cap="none" strike="noStrike">
              <a:solidFill>
                <a:schemeClr val="dk1"/>
              </a:solidFill>
              <a:latin typeface="Calibri"/>
              <a:ea typeface="Calibri"/>
              <a:cs typeface="Calibri"/>
              <a:sym typeface="Calibri"/>
            </a:endParaRPr>
          </a:p>
        </p:txBody>
      </p:sp>
      <p:sp>
        <p:nvSpPr>
          <p:cNvPr id="361" name="Google Shape;361;p20"/>
          <p:cNvSpPr/>
          <p:nvPr/>
        </p:nvSpPr>
        <p:spPr>
          <a:xfrm>
            <a:off x="502920" y="3200400"/>
            <a:ext cx="11185855" cy="2651760"/>
          </a:xfrm>
          <a:prstGeom prst="roundRect">
            <a:avLst>
              <a:gd fmla="val 2759" name="adj"/>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0"/>
          <p:cNvSpPr/>
          <p:nvPr/>
        </p:nvSpPr>
        <p:spPr>
          <a:xfrm>
            <a:off x="777240" y="333756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BEFF"/>
              </a:buClr>
              <a:buSzPts val="1350"/>
              <a:buFont typeface="Calibri"/>
              <a:buNone/>
            </a:pPr>
            <a:r>
              <a:rPr b="1" i="0" lang="en-US" sz="1350" u="none" cap="none" strike="noStrike">
                <a:solidFill>
                  <a:srgbClr val="71BEFF"/>
                </a:solidFill>
                <a:latin typeface="Calibri"/>
                <a:ea typeface="Calibri"/>
                <a:cs typeface="Calibri"/>
                <a:sym typeface="Calibri"/>
              </a:rPr>
              <a:t>Section 2 Summary</a:t>
            </a:r>
            <a:endParaRPr b="0" i="0" sz="1350" u="none" cap="none" strike="noStrike">
              <a:solidFill>
                <a:schemeClr val="dk1"/>
              </a:solidFill>
              <a:latin typeface="Calibri"/>
              <a:ea typeface="Calibri"/>
              <a:cs typeface="Calibri"/>
              <a:sym typeface="Calibri"/>
            </a:endParaRPr>
          </a:p>
        </p:txBody>
      </p:sp>
      <p:sp>
        <p:nvSpPr>
          <p:cNvPr id="363" name="Google Shape;363;p20"/>
          <p:cNvSpPr/>
          <p:nvPr/>
        </p:nvSpPr>
        <p:spPr>
          <a:xfrm>
            <a:off x="777240" y="3703320"/>
            <a:ext cx="10637215"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45 engineered features across 4 categories (Heart Rate &amp; Timing, Waveform Morphology, Power Spectral, Metadata &amp; Quality) provide measurable diagnostic separation for all 7 target conditions prior to model training, per Section 4.2 diagnostics.</a:t>
            </a:r>
            <a:endParaRPr b="0" i="0" sz="1250" u="none" cap="none" strike="noStrike">
              <a:solidFill>
                <a:schemeClr val="dk1"/>
              </a:solidFill>
              <a:latin typeface="Calibri"/>
              <a:ea typeface="Calibri"/>
              <a:cs typeface="Calibri"/>
              <a:sym typeface="Calibri"/>
            </a:endParaRPr>
          </a:p>
        </p:txBody>
      </p:sp>
      <p:sp>
        <p:nvSpPr>
          <p:cNvPr id="364" name="Google Shape;364;p20"/>
          <p:cNvSpPr/>
          <p:nvPr/>
        </p:nvSpPr>
        <p:spPr>
          <a:xfrm>
            <a:off x="777240" y="4800600"/>
            <a:ext cx="1063721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1BEFF"/>
              </a:buClr>
              <a:buSzPts val="1250"/>
              <a:buFont typeface="Calibri"/>
              <a:buNone/>
            </a:pPr>
            <a:r>
              <a:rPr b="0" i="1" lang="en-US" sz="1250" u="none" cap="none" strike="noStrike">
                <a:solidFill>
                  <a:srgbClr val="71BEFF"/>
                </a:solidFill>
                <a:latin typeface="Calibri"/>
                <a:ea typeface="Calibri"/>
                <a:cs typeface="Calibri"/>
                <a:sym typeface="Calibri"/>
              </a:rPr>
              <a:t>Section 3 (Model Selection &amp; Training) follows.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1"/>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71" name="Google Shape;371;p21"/>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72" name="Google Shape;372;p21"/>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73" name="Google Shape;373;p21"/>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
        <p:nvSpPr>
          <p:cNvPr id="374" name="Google Shape;374;p21"/>
          <p:cNvSpPr/>
          <p:nvPr/>
        </p:nvSpPr>
        <p:spPr>
          <a:xfrm>
            <a:off x="502920" y="274320"/>
            <a:ext cx="3578962"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p:nvPr/>
        </p:nvSpPr>
        <p:spPr>
          <a:xfrm>
            <a:off x="502920" y="274320"/>
            <a:ext cx="357896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3 · MODEL SELECTION &amp; TRAINING · 3.4</a:t>
            </a:r>
            <a:endParaRPr b="0" i="0" sz="1000" u="none" cap="none" strike="noStrike">
              <a:solidFill>
                <a:schemeClr val="dk1"/>
              </a:solidFill>
              <a:latin typeface="Calibri"/>
              <a:ea typeface="Calibri"/>
              <a:cs typeface="Calibri"/>
              <a:sym typeface="Calibri"/>
            </a:endParaRPr>
          </a:p>
        </p:txBody>
      </p:sp>
      <p:sp>
        <p:nvSpPr>
          <p:cNvPr id="376" name="Google Shape;376;p21"/>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Patient-Stratified Data Splitting</a:t>
            </a:r>
            <a:endParaRPr b="0" i="0" sz="2400" u="none" cap="none" strike="noStrike">
              <a:solidFill>
                <a:schemeClr val="dk1"/>
              </a:solidFill>
              <a:latin typeface="Calibri"/>
              <a:ea typeface="Calibri"/>
              <a:cs typeface="Calibri"/>
              <a:sym typeface="Calibri"/>
            </a:endParaRPr>
          </a:p>
        </p:txBody>
      </p:sp>
      <p:sp>
        <p:nvSpPr>
          <p:cNvPr id="377" name="Google Shape;377;p21"/>
          <p:cNvSpPr/>
          <p:nvPr/>
        </p:nvSpPr>
        <p:spPr>
          <a:xfrm>
            <a:off x="502920" y="1371600"/>
            <a:ext cx="1118585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1" lang="en-US" sz="1300" u="none" cap="none" strike="noStrike">
                <a:solidFill>
                  <a:srgbClr val="1E1E1E"/>
                </a:solidFill>
                <a:latin typeface="Calibri"/>
                <a:ea typeface="Calibri"/>
                <a:cs typeface="Calibri"/>
                <a:sym typeface="Calibri"/>
              </a:rPr>
              <a:t>"Dataset partitioning strictly respected PTB-XL stratification folds (strat_fold, 1 to 10)." — Report Section 3.4</a:t>
            </a:r>
            <a:endParaRPr b="0" i="0" sz="1300" u="none" cap="none" strike="noStrike">
              <a:solidFill>
                <a:schemeClr val="dk1"/>
              </a:solidFill>
              <a:latin typeface="Calibri"/>
              <a:ea typeface="Calibri"/>
              <a:cs typeface="Calibri"/>
              <a:sym typeface="Calibri"/>
            </a:endParaRPr>
          </a:p>
        </p:txBody>
      </p:sp>
      <p:sp>
        <p:nvSpPr>
          <p:cNvPr id="378" name="Google Shape;378;p21"/>
          <p:cNvSpPr/>
          <p:nvPr/>
        </p:nvSpPr>
        <p:spPr>
          <a:xfrm>
            <a:off x="502920" y="1965960"/>
            <a:ext cx="8948684" cy="54864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1"/>
          <p:cNvSpPr/>
          <p:nvPr/>
        </p:nvSpPr>
        <p:spPr>
          <a:xfrm>
            <a:off x="502920" y="1965960"/>
            <a:ext cx="8948684"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Training — Folds 1–8 (80.0%)</a:t>
            </a:r>
            <a:endParaRPr b="0" i="0" sz="1150" u="none" cap="none" strike="noStrike">
              <a:solidFill>
                <a:schemeClr val="dk1"/>
              </a:solidFill>
              <a:latin typeface="Calibri"/>
              <a:ea typeface="Calibri"/>
              <a:cs typeface="Calibri"/>
              <a:sym typeface="Calibri"/>
            </a:endParaRPr>
          </a:p>
        </p:txBody>
      </p:sp>
      <p:sp>
        <p:nvSpPr>
          <p:cNvPr id="380" name="Google Shape;380;p21"/>
          <p:cNvSpPr/>
          <p:nvPr/>
        </p:nvSpPr>
        <p:spPr>
          <a:xfrm>
            <a:off x="9451604" y="1965960"/>
            <a:ext cx="1118586" cy="548640"/>
          </a:xfrm>
          <a:prstGeom prst="rect">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1"/>
          <p:cNvSpPr/>
          <p:nvPr/>
        </p:nvSpPr>
        <p:spPr>
          <a:xfrm>
            <a:off x="9451604" y="1965960"/>
            <a:ext cx="111858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Validation — Fold 9 (10.0%)</a:t>
            </a:r>
            <a:endParaRPr b="0" i="0" sz="1150" u="none" cap="none" strike="noStrike">
              <a:solidFill>
                <a:schemeClr val="dk1"/>
              </a:solidFill>
              <a:latin typeface="Calibri"/>
              <a:ea typeface="Calibri"/>
              <a:cs typeface="Calibri"/>
              <a:sym typeface="Calibri"/>
            </a:endParaRPr>
          </a:p>
        </p:txBody>
      </p:sp>
      <p:sp>
        <p:nvSpPr>
          <p:cNvPr id="382" name="Google Shape;382;p21"/>
          <p:cNvSpPr/>
          <p:nvPr/>
        </p:nvSpPr>
        <p:spPr>
          <a:xfrm>
            <a:off x="10570190" y="1965960"/>
            <a:ext cx="1118586" cy="548640"/>
          </a:xfrm>
          <a:prstGeom prst="rect">
            <a:avLst/>
          </a:prstGeom>
          <a:solidFill>
            <a:srgbClr val="71B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1"/>
          <p:cNvSpPr/>
          <p:nvPr/>
        </p:nvSpPr>
        <p:spPr>
          <a:xfrm>
            <a:off x="10570190" y="1965960"/>
            <a:ext cx="111858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Test — Fold 10 (10.0%)</a:t>
            </a:r>
            <a:endParaRPr b="0" i="0" sz="1150" u="none" cap="none" strike="noStrike">
              <a:solidFill>
                <a:schemeClr val="dk1"/>
              </a:solidFill>
              <a:latin typeface="Calibri"/>
              <a:ea typeface="Calibri"/>
              <a:cs typeface="Calibri"/>
              <a:sym typeface="Calibri"/>
            </a:endParaRPr>
          </a:p>
        </p:txBody>
      </p:sp>
      <p:sp>
        <p:nvSpPr>
          <p:cNvPr id="384" name="Google Shape;384;p21"/>
          <p:cNvSpPr/>
          <p:nvPr/>
        </p:nvSpPr>
        <p:spPr>
          <a:xfrm>
            <a:off x="502920" y="2834640"/>
            <a:ext cx="11185855" cy="228600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Splitting is performed at the patient level, not the recording level: no patient ID appears in more than one partition, preventing patient memorization and inflated performance estimates.</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Fold 9 (n = 2,180) is used exclusively for threshold and calibration tuning; Fold 10 (n = 2,195) is held out entirely and used only for final reporting, consistent with the validation methodology of Sadiq et al. (2025).</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2"/>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391" name="Google Shape;391;p22"/>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392" name="Google Shape;392;p22"/>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393" name="Google Shape;393;p22"/>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
        <p:nvSpPr>
          <p:cNvPr id="394" name="Google Shape;394;p22"/>
          <p:cNvSpPr/>
          <p:nvPr/>
        </p:nvSpPr>
        <p:spPr>
          <a:xfrm>
            <a:off x="502920" y="274320"/>
            <a:ext cx="3578962"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502920" y="274320"/>
            <a:ext cx="357896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3 · MODEL SELECTION &amp; TRAINING · 3.4</a:t>
            </a:r>
            <a:endParaRPr b="0" i="0" sz="1000" u="none" cap="none" strike="noStrike">
              <a:solidFill>
                <a:schemeClr val="dk1"/>
              </a:solidFill>
              <a:latin typeface="Calibri"/>
              <a:ea typeface="Calibri"/>
              <a:cs typeface="Calibri"/>
              <a:sym typeface="Calibri"/>
            </a:endParaRPr>
          </a:p>
        </p:txBody>
      </p:sp>
      <p:sp>
        <p:nvSpPr>
          <p:cNvPr id="396" name="Google Shape;396;p22"/>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Baseline: Random Forest Classifier</a:t>
            </a:r>
            <a:endParaRPr b="0" i="0" sz="2400" u="none" cap="none" strike="noStrike">
              <a:solidFill>
                <a:schemeClr val="dk1"/>
              </a:solidFill>
              <a:latin typeface="Calibri"/>
              <a:ea typeface="Calibri"/>
              <a:cs typeface="Calibri"/>
              <a:sym typeface="Calibri"/>
            </a:endParaRPr>
          </a:p>
        </p:txBody>
      </p:sp>
      <p:sp>
        <p:nvSpPr>
          <p:cNvPr id="397" name="Google Shape;397;p22"/>
          <p:cNvSpPr/>
          <p:nvPr/>
        </p:nvSpPr>
        <p:spPr>
          <a:xfrm>
            <a:off x="502920" y="1463040"/>
            <a:ext cx="11185855" cy="1005840"/>
          </a:xfrm>
          <a:prstGeom prst="roundRect">
            <a:avLst>
              <a:gd fmla="val 7273"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777240" y="1463040"/>
            <a:ext cx="10637215"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50"/>
              <a:buFont typeface="Calibri"/>
              <a:buNone/>
            </a:pPr>
            <a:r>
              <a:rPr b="0" i="1" lang="en-US" sz="1350" u="none" cap="none" strike="noStrike">
                <a:solidFill>
                  <a:srgbClr val="003B70"/>
                </a:solidFill>
                <a:latin typeface="Calibri"/>
                <a:ea typeface="Calibri"/>
                <a:cs typeface="Calibri"/>
                <a:sym typeface="Calibri"/>
              </a:rPr>
              <a:t>Bootstrap-aggregated ensemble of decision trees; each tree trained on a bootstrap resample of the training set and a random feature subset, with prediction by majority vote (classification) across the ensemble.</a:t>
            </a:r>
            <a:endParaRPr b="0" i="0" sz="1350" u="none" cap="none" strike="noStrike">
              <a:solidFill>
                <a:schemeClr val="dk1"/>
              </a:solidFill>
              <a:latin typeface="Calibri"/>
              <a:ea typeface="Calibri"/>
              <a:cs typeface="Calibri"/>
              <a:sym typeface="Calibri"/>
            </a:endParaRPr>
          </a:p>
        </p:txBody>
      </p:sp>
      <p:sp>
        <p:nvSpPr>
          <p:cNvPr id="399" name="Google Shape;399;p22"/>
          <p:cNvSpPr/>
          <p:nvPr/>
        </p:nvSpPr>
        <p:spPr>
          <a:xfrm>
            <a:off x="502920" y="2743200"/>
            <a:ext cx="11185855" cy="292608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Selected as baseline for its resistance to overfitting via bagging variance reduction, native handling of the mixed continuous/categorical 45-feature space, and interpretability via feature importance.</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Reported baseline performance (held-out test, Fold 10): mean ROC-AUC = 0.922, macro F1 = 0.663 — this is the reference floor for the advanced model comparison.</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Any performance gain from the advanced model must exceed this baseline to justify its added computational and interpretive complexity.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3"/>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06" name="Google Shape;406;p23"/>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07" name="Google Shape;407;p23"/>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408" name="Google Shape;408;p23"/>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
        <p:nvSpPr>
          <p:cNvPr id="409" name="Google Shape;409;p23"/>
          <p:cNvSpPr/>
          <p:nvPr/>
        </p:nvSpPr>
        <p:spPr>
          <a:xfrm>
            <a:off x="502920" y="274320"/>
            <a:ext cx="3578962"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3"/>
          <p:cNvSpPr/>
          <p:nvPr/>
        </p:nvSpPr>
        <p:spPr>
          <a:xfrm>
            <a:off x="502920" y="274320"/>
            <a:ext cx="357896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3 · MODEL SELECTION &amp; TRAINING · 3.4</a:t>
            </a:r>
            <a:endParaRPr b="0" i="0" sz="1000" u="none" cap="none" strike="noStrike">
              <a:solidFill>
                <a:schemeClr val="dk1"/>
              </a:solidFill>
              <a:latin typeface="Calibri"/>
              <a:ea typeface="Calibri"/>
              <a:cs typeface="Calibri"/>
              <a:sym typeface="Calibri"/>
            </a:endParaRPr>
          </a:p>
        </p:txBody>
      </p:sp>
      <p:sp>
        <p:nvSpPr>
          <p:cNvPr id="411" name="Google Shape;411;p23"/>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Advanced Model: Cost-Weighted XGBoost Ensemble</a:t>
            </a:r>
            <a:endParaRPr b="0" i="0" sz="2400" u="none" cap="none" strike="noStrike">
              <a:solidFill>
                <a:schemeClr val="dk1"/>
              </a:solidFill>
              <a:latin typeface="Calibri"/>
              <a:ea typeface="Calibri"/>
              <a:cs typeface="Calibri"/>
              <a:sym typeface="Calibri"/>
            </a:endParaRPr>
          </a:p>
        </p:txBody>
      </p:sp>
      <p:sp>
        <p:nvSpPr>
          <p:cNvPr id="412" name="Google Shape;412;p23"/>
          <p:cNvSpPr/>
          <p:nvPr/>
        </p:nvSpPr>
        <p:spPr>
          <a:xfrm>
            <a:off x="502920" y="1417320"/>
            <a:ext cx="11185855" cy="914400"/>
          </a:xfrm>
          <a:prstGeom prst="roundRect">
            <a:avLst>
              <a:gd fmla="val 8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3"/>
          <p:cNvSpPr/>
          <p:nvPr/>
        </p:nvSpPr>
        <p:spPr>
          <a:xfrm>
            <a:off x="777240" y="1417320"/>
            <a:ext cx="10637215"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300"/>
              <a:buFont typeface="Calibri"/>
              <a:buNone/>
            </a:pPr>
            <a:r>
              <a:rPr b="0" i="1" lang="en-US" sz="1300" u="none" cap="none" strike="noStrike">
                <a:solidFill>
                  <a:srgbClr val="003B70"/>
                </a:solidFill>
                <a:latin typeface="Calibri"/>
                <a:ea typeface="Calibri"/>
                <a:cs typeface="Calibri"/>
                <a:sym typeface="Calibri"/>
              </a:rPr>
              <a:t>Gradient-boosted decision tree ensemble: trees are added sequentially, each fit to the negative gradient of the loss function with respect to the current ensemble prediction (residual error correction).</a:t>
            </a:r>
            <a:endParaRPr b="0" i="0" sz="1300" u="none" cap="none" strike="noStrike">
              <a:solidFill>
                <a:schemeClr val="dk1"/>
              </a:solidFill>
              <a:latin typeface="Calibri"/>
              <a:ea typeface="Calibri"/>
              <a:cs typeface="Calibri"/>
              <a:sym typeface="Calibri"/>
            </a:endParaRPr>
          </a:p>
        </p:txBody>
      </p:sp>
      <p:sp>
        <p:nvSpPr>
          <p:cNvPr id="414" name="Google Shape;414;p23"/>
          <p:cNvSpPr/>
          <p:nvPr/>
        </p:nvSpPr>
        <p:spPr>
          <a:xfrm>
            <a:off x="502920" y="2514600"/>
            <a:ext cx="11185855" cy="310896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Cost-weighted training: per Section 3.2, each condition c receives a dynamic positive-class weight w_c = N_neg,c / N_pos,c applied to the loss function, penalizing false negatives on rare conditions proportionally to their scarcity (e.g., w = 27.37 for PAC).</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This directly counteracts the class-imbalance finding from Section 1 without resorting to synthetic oversampling (e.g., SMOTE), which risks distorting the multi-label co-occurrence structure of the target conditions.</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Implemented as a Multi-Label Ensemble: one gradient-boosted model per condition, each independently cost-weighted.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4"/>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21" name="Google Shape;421;p24"/>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22" name="Google Shape;422;p24"/>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423" name="Google Shape;423;p24"/>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
        <p:nvSpPr>
          <p:cNvPr id="424" name="Google Shape;424;p24"/>
          <p:cNvSpPr/>
          <p:nvPr/>
        </p:nvSpPr>
        <p:spPr>
          <a:xfrm>
            <a:off x="502920" y="274320"/>
            <a:ext cx="3578962"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4"/>
          <p:cNvSpPr/>
          <p:nvPr/>
        </p:nvSpPr>
        <p:spPr>
          <a:xfrm>
            <a:off x="502920" y="274320"/>
            <a:ext cx="357896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3 · MODEL SELECTION &amp; TRAINING · 3.4</a:t>
            </a:r>
            <a:endParaRPr b="0" i="0" sz="1000" u="none" cap="none" strike="noStrike">
              <a:solidFill>
                <a:schemeClr val="dk1"/>
              </a:solidFill>
              <a:latin typeface="Calibri"/>
              <a:ea typeface="Calibri"/>
              <a:cs typeface="Calibri"/>
              <a:sym typeface="Calibri"/>
            </a:endParaRPr>
          </a:p>
        </p:txBody>
      </p:sp>
      <p:sp>
        <p:nvSpPr>
          <p:cNvPr id="426" name="Google Shape;426;p24"/>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Multi-Label Architecture</a:t>
            </a:r>
            <a:endParaRPr b="0" i="0" sz="2400" u="none" cap="none" strike="noStrike">
              <a:solidFill>
                <a:schemeClr val="dk1"/>
              </a:solidFill>
              <a:latin typeface="Calibri"/>
              <a:ea typeface="Calibri"/>
              <a:cs typeface="Calibri"/>
              <a:sym typeface="Calibri"/>
            </a:endParaRPr>
          </a:p>
        </p:txBody>
      </p:sp>
      <p:sp>
        <p:nvSpPr>
          <p:cNvPr id="427" name="Google Shape;427;p24"/>
          <p:cNvSpPr/>
          <p:nvPr/>
        </p:nvSpPr>
        <p:spPr>
          <a:xfrm>
            <a:off x="502920" y="1554480"/>
            <a:ext cx="11185855" cy="310896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A recording may carry more than one true condition simultaneously (e.g., concurrent AFb/AFl and PVC in the same 10-second window) — the target space is 7 independent binary indicators, not one mutually-exclusive class.</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Architecture: 7 independent binary classifiers (one-vs-rest per condition), each outputting an independent probability P(condition_i = 1 | x) ∈ [0, 1]; probabilities are not constrained to sum to 1 across conditions.</a:t>
            </a:r>
            <a:endParaRPr b="0" i="0" sz="130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300"/>
              <a:buFont typeface="Calibri"/>
              <a:buChar char="●"/>
            </a:pPr>
            <a:r>
              <a:rPr b="0" i="0" lang="en-US" sz="1300" u="none" cap="none" strike="noStrike">
                <a:solidFill>
                  <a:srgbClr val="1E1E1E"/>
                </a:solidFill>
                <a:latin typeface="Calibri"/>
                <a:ea typeface="Calibri"/>
                <a:cs typeface="Calibri"/>
                <a:sym typeface="Calibri"/>
              </a:rPr>
              <a:t>This formalization is required because a standard single-label softmax classifier cannot represent co-occurring diagnoses, which are clinically common.</a:t>
            </a:r>
            <a:endParaRPr b="0" i="0" sz="1300" u="none" cap="none" strike="noStrike">
              <a:solidFill>
                <a:schemeClr val="dk1"/>
              </a:solidFill>
              <a:latin typeface="Calibri"/>
              <a:ea typeface="Calibri"/>
              <a:cs typeface="Calibri"/>
              <a:sym typeface="Calibri"/>
            </a:endParaRPr>
          </a:p>
        </p:txBody>
      </p:sp>
      <p:sp>
        <p:nvSpPr>
          <p:cNvPr id="428" name="Google Shape;428;p24"/>
          <p:cNvSpPr/>
          <p:nvPr/>
        </p:nvSpPr>
        <p:spPr>
          <a:xfrm>
            <a:off x="502920" y="4846320"/>
            <a:ext cx="11185855" cy="1005840"/>
          </a:xfrm>
          <a:prstGeom prst="roundRect">
            <a:avLst>
              <a:gd fmla="val 5455"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4"/>
          <p:cNvSpPr/>
          <p:nvPr/>
        </p:nvSpPr>
        <p:spPr>
          <a:xfrm>
            <a:off x="731520" y="4846320"/>
            <a:ext cx="10728655"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1E1E"/>
              </a:buClr>
              <a:buSzPts val="1200"/>
              <a:buFont typeface="Calibri"/>
              <a:buNone/>
            </a:pPr>
            <a:r>
              <a:rPr b="0" i="0" lang="en-US" sz="1200" u="none" cap="none" strike="noStrike">
                <a:solidFill>
                  <a:srgbClr val="1E1E1E"/>
                </a:solidFill>
                <a:latin typeface="Calibri"/>
                <a:ea typeface="Calibri"/>
                <a:cs typeface="Calibri"/>
                <a:sym typeface="Calibri"/>
              </a:rPr>
              <a:t>Section 3 Summary: patient-stratified 80/10/10 split · Random Forest baseline (0.922 test AUC) · cost-weighted XGBoost (w_c per condition) · 7-way multi-label architecture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5"/>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36" name="Google Shape;436;p25"/>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37" name="Google Shape;437;p25"/>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438" name="Google Shape;438;p25"/>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
        <p:nvSpPr>
          <p:cNvPr id="439" name="Google Shape;439;p25"/>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3.5</a:t>
            </a:r>
            <a:endParaRPr b="0" i="0" sz="1000" u="none" cap="none" strike="noStrike">
              <a:solidFill>
                <a:schemeClr val="dk1"/>
              </a:solidFill>
              <a:latin typeface="Calibri"/>
              <a:ea typeface="Calibri"/>
              <a:cs typeface="Calibri"/>
              <a:sym typeface="Calibri"/>
            </a:endParaRPr>
          </a:p>
        </p:txBody>
      </p:sp>
      <p:sp>
        <p:nvSpPr>
          <p:cNvPr id="441" name="Google Shape;441;p25"/>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Model Diagnostics and Evaluation Framework</a:t>
            </a:r>
            <a:endParaRPr b="0" i="0" sz="2400" u="none" cap="none" strike="noStrike">
              <a:solidFill>
                <a:schemeClr val="dk1"/>
              </a:solidFill>
              <a:latin typeface="Calibri"/>
              <a:ea typeface="Calibri"/>
              <a:cs typeface="Calibri"/>
              <a:sym typeface="Calibri"/>
            </a:endParaRPr>
          </a:p>
        </p:txBody>
      </p:sp>
      <p:sp>
        <p:nvSpPr>
          <p:cNvPr id="442" name="Google Shape;442;p25"/>
          <p:cNvSpPr/>
          <p:nvPr/>
        </p:nvSpPr>
        <p:spPr>
          <a:xfrm>
            <a:off x="502920" y="1463040"/>
            <a:ext cx="11185855" cy="11887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1E1E"/>
              </a:buClr>
              <a:buSzPts val="1350"/>
              <a:buFont typeface="Calibri"/>
              <a:buNone/>
            </a:pPr>
            <a:r>
              <a:rPr b="0" i="1" lang="en-US" sz="1350" u="none" cap="none" strike="noStrike">
                <a:solidFill>
                  <a:srgbClr val="1E1E1E"/>
                </a:solidFill>
                <a:latin typeface="Calibri"/>
                <a:ea typeface="Calibri"/>
                <a:cs typeface="Calibri"/>
                <a:sym typeface="Calibri"/>
              </a:rPr>
              <a:t>"Diagnostic evaluation executed ROC-AUC/PR-AUC scoring, Youden's J decision threshold optimization on Fold 9 validation data, Sigmoid Platt probability calibration, intra- vs. inter-patient generalization gap measurement, additive Gaussian noise stress-testing, demographic fairness auditing, and TreeSHAP feature attributions." — Report Section 3.5</a:t>
            </a:r>
            <a:endParaRPr b="0" i="0" sz="1350" u="none" cap="none" strike="noStrike">
              <a:solidFill>
                <a:schemeClr val="dk1"/>
              </a:solidFill>
              <a:latin typeface="Calibri"/>
              <a:ea typeface="Calibri"/>
              <a:cs typeface="Calibri"/>
              <a:sym typeface="Calibri"/>
            </a:endParaRPr>
          </a:p>
        </p:txBody>
      </p:sp>
      <p:sp>
        <p:nvSpPr>
          <p:cNvPr id="443" name="Google Shape;443;p25"/>
          <p:cNvSpPr/>
          <p:nvPr/>
        </p:nvSpPr>
        <p:spPr>
          <a:xfrm>
            <a:off x="502920" y="283464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
          <p:cNvSpPr/>
          <p:nvPr/>
        </p:nvSpPr>
        <p:spPr>
          <a:xfrm>
            <a:off x="502920" y="28346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445" name="Google Shape;445;p25"/>
          <p:cNvSpPr/>
          <p:nvPr/>
        </p:nvSpPr>
        <p:spPr>
          <a:xfrm>
            <a:off x="914400" y="278892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ROC-AUC / PR-AUC scoring</a:t>
            </a:r>
            <a:endParaRPr b="0" i="0" sz="1300" u="none" cap="none" strike="noStrike">
              <a:solidFill>
                <a:schemeClr val="dk1"/>
              </a:solidFill>
              <a:latin typeface="Calibri"/>
              <a:ea typeface="Calibri"/>
              <a:cs typeface="Calibri"/>
              <a:sym typeface="Calibri"/>
            </a:endParaRPr>
          </a:p>
        </p:txBody>
      </p:sp>
      <p:sp>
        <p:nvSpPr>
          <p:cNvPr id="446" name="Google Shape;446;p25"/>
          <p:cNvSpPr/>
          <p:nvPr/>
        </p:nvSpPr>
        <p:spPr>
          <a:xfrm>
            <a:off x="6278728" y="283464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6278728" y="28346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448" name="Google Shape;448;p25"/>
          <p:cNvSpPr/>
          <p:nvPr/>
        </p:nvSpPr>
        <p:spPr>
          <a:xfrm>
            <a:off x="6690208" y="278892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Youden's J threshold optimization</a:t>
            </a:r>
            <a:endParaRPr b="0" i="0" sz="1300" u="none" cap="none" strike="noStrike">
              <a:solidFill>
                <a:schemeClr val="dk1"/>
              </a:solidFill>
              <a:latin typeface="Calibri"/>
              <a:ea typeface="Calibri"/>
              <a:cs typeface="Calibri"/>
              <a:sym typeface="Calibri"/>
            </a:endParaRPr>
          </a:p>
        </p:txBody>
      </p:sp>
      <p:sp>
        <p:nvSpPr>
          <p:cNvPr id="449" name="Google Shape;449;p25"/>
          <p:cNvSpPr/>
          <p:nvPr/>
        </p:nvSpPr>
        <p:spPr>
          <a:xfrm>
            <a:off x="502920" y="338328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5"/>
          <p:cNvSpPr/>
          <p:nvPr/>
        </p:nvSpPr>
        <p:spPr>
          <a:xfrm>
            <a:off x="502920" y="33832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451" name="Google Shape;451;p25"/>
          <p:cNvSpPr/>
          <p:nvPr/>
        </p:nvSpPr>
        <p:spPr>
          <a:xfrm>
            <a:off x="914400" y="333756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Sigmoid / Platt calibration</a:t>
            </a:r>
            <a:endParaRPr b="0" i="0" sz="1300" u="none" cap="none" strike="noStrike">
              <a:solidFill>
                <a:schemeClr val="dk1"/>
              </a:solidFill>
              <a:latin typeface="Calibri"/>
              <a:ea typeface="Calibri"/>
              <a:cs typeface="Calibri"/>
              <a:sym typeface="Calibri"/>
            </a:endParaRPr>
          </a:p>
        </p:txBody>
      </p:sp>
      <p:sp>
        <p:nvSpPr>
          <p:cNvPr id="452" name="Google Shape;452;p25"/>
          <p:cNvSpPr/>
          <p:nvPr/>
        </p:nvSpPr>
        <p:spPr>
          <a:xfrm>
            <a:off x="6278728" y="338328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
          <p:cNvSpPr/>
          <p:nvPr/>
        </p:nvSpPr>
        <p:spPr>
          <a:xfrm>
            <a:off x="6278728" y="33832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454" name="Google Shape;454;p25"/>
          <p:cNvSpPr/>
          <p:nvPr/>
        </p:nvSpPr>
        <p:spPr>
          <a:xfrm>
            <a:off x="6690208" y="333756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Intra- vs. inter-patient generalization gap</a:t>
            </a:r>
            <a:endParaRPr b="0" i="0" sz="1300" u="none" cap="none" strike="noStrike">
              <a:solidFill>
                <a:schemeClr val="dk1"/>
              </a:solidFill>
              <a:latin typeface="Calibri"/>
              <a:ea typeface="Calibri"/>
              <a:cs typeface="Calibri"/>
              <a:sym typeface="Calibri"/>
            </a:endParaRPr>
          </a:p>
        </p:txBody>
      </p:sp>
      <p:sp>
        <p:nvSpPr>
          <p:cNvPr id="455" name="Google Shape;455;p25"/>
          <p:cNvSpPr/>
          <p:nvPr/>
        </p:nvSpPr>
        <p:spPr>
          <a:xfrm>
            <a:off x="502920" y="393192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5"/>
          <p:cNvSpPr/>
          <p:nvPr/>
        </p:nvSpPr>
        <p:spPr>
          <a:xfrm>
            <a:off x="502920" y="39319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457" name="Google Shape;457;p25"/>
          <p:cNvSpPr/>
          <p:nvPr/>
        </p:nvSpPr>
        <p:spPr>
          <a:xfrm>
            <a:off x="914400" y="388620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Additive Gaussian noise stress-testing</a:t>
            </a:r>
            <a:endParaRPr b="0" i="0" sz="1300" u="none" cap="none" strike="noStrike">
              <a:solidFill>
                <a:schemeClr val="dk1"/>
              </a:solidFill>
              <a:latin typeface="Calibri"/>
              <a:ea typeface="Calibri"/>
              <a:cs typeface="Calibri"/>
              <a:sym typeface="Calibri"/>
            </a:endParaRPr>
          </a:p>
        </p:txBody>
      </p:sp>
      <p:sp>
        <p:nvSpPr>
          <p:cNvPr id="458" name="Google Shape;458;p25"/>
          <p:cNvSpPr/>
          <p:nvPr/>
        </p:nvSpPr>
        <p:spPr>
          <a:xfrm>
            <a:off x="6278728" y="393192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6278728" y="39319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460" name="Google Shape;460;p25"/>
          <p:cNvSpPr/>
          <p:nvPr/>
        </p:nvSpPr>
        <p:spPr>
          <a:xfrm>
            <a:off x="6690208" y="388620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Demographic fairness auditing</a:t>
            </a:r>
            <a:endParaRPr b="0" i="0" sz="1300" u="none" cap="none" strike="noStrike">
              <a:solidFill>
                <a:schemeClr val="dk1"/>
              </a:solidFill>
              <a:latin typeface="Calibri"/>
              <a:ea typeface="Calibri"/>
              <a:cs typeface="Calibri"/>
              <a:sym typeface="Calibri"/>
            </a:endParaRPr>
          </a:p>
        </p:txBody>
      </p:sp>
      <p:sp>
        <p:nvSpPr>
          <p:cNvPr id="461" name="Google Shape;461;p25"/>
          <p:cNvSpPr/>
          <p:nvPr/>
        </p:nvSpPr>
        <p:spPr>
          <a:xfrm>
            <a:off x="502920" y="4480560"/>
            <a:ext cx="292608" cy="292608"/>
          </a:xfrm>
          <a:prstGeom prst="ellipse">
            <a:avLst/>
          </a:prstGeom>
          <a:solidFill>
            <a:srgbClr val="0070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5"/>
          <p:cNvSpPr/>
          <p:nvPr/>
        </p:nvSpPr>
        <p:spPr>
          <a:xfrm>
            <a:off x="502920" y="44805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7</a:t>
            </a:r>
            <a:endParaRPr b="0" i="0" sz="1200" u="none" cap="none" strike="noStrike">
              <a:solidFill>
                <a:schemeClr val="dk1"/>
              </a:solidFill>
              <a:latin typeface="Calibri"/>
              <a:ea typeface="Calibri"/>
              <a:cs typeface="Calibri"/>
              <a:sym typeface="Calibri"/>
            </a:endParaRPr>
          </a:p>
        </p:txBody>
      </p:sp>
      <p:sp>
        <p:nvSpPr>
          <p:cNvPr id="463" name="Google Shape;463;p25"/>
          <p:cNvSpPr/>
          <p:nvPr/>
        </p:nvSpPr>
        <p:spPr>
          <a:xfrm>
            <a:off x="914400" y="4434840"/>
            <a:ext cx="495284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300"/>
              <a:buFont typeface="Calibri"/>
              <a:buNone/>
            </a:pPr>
            <a:r>
              <a:rPr b="0" i="0" lang="en-US" sz="1300" u="none" cap="none" strike="noStrike">
                <a:solidFill>
                  <a:srgbClr val="1E1E1E"/>
                </a:solidFill>
                <a:latin typeface="Calibri"/>
                <a:ea typeface="Calibri"/>
                <a:cs typeface="Calibri"/>
                <a:sym typeface="Calibri"/>
              </a:rPr>
              <a:t>TreeSHAP feature attribution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6"/>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70" name="Google Shape;470;p26"/>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71" name="Google Shape;471;p26"/>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472" name="Google Shape;472;p26"/>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
        <p:nvSpPr>
          <p:cNvPr id="473" name="Google Shape;473;p26"/>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6"/>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4.3</a:t>
            </a:r>
            <a:endParaRPr b="0" i="0" sz="1000" u="none" cap="none" strike="noStrike">
              <a:solidFill>
                <a:schemeClr val="dk1"/>
              </a:solidFill>
              <a:latin typeface="Calibri"/>
              <a:ea typeface="Calibri"/>
              <a:cs typeface="Calibri"/>
              <a:sym typeface="Calibri"/>
            </a:endParaRPr>
          </a:p>
        </p:txBody>
      </p:sp>
      <p:sp>
        <p:nvSpPr>
          <p:cNvPr id="475" name="Google Shape;475;p26"/>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Validation Performance: RF vs. XGBoost (Fold 9)</a:t>
            </a:r>
            <a:endParaRPr b="0" i="0" sz="2400" u="none" cap="none" strike="noStrike">
              <a:solidFill>
                <a:schemeClr val="dk1"/>
              </a:solidFill>
              <a:latin typeface="Calibri"/>
              <a:ea typeface="Calibri"/>
              <a:cs typeface="Calibri"/>
              <a:sym typeface="Calibri"/>
            </a:endParaRPr>
          </a:p>
        </p:txBody>
      </p:sp>
      <p:graphicFrame>
        <p:nvGraphicFramePr>
          <p:cNvPr id="476" name="Google Shape;476;p26"/>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2103125"/>
                <a:gridCol w="1600200"/>
                <a:gridCol w="1600200"/>
                <a:gridCol w="1600200"/>
                <a:gridCol w="1600200"/>
                <a:gridCol w="2679200"/>
              </a:tblGrid>
              <a:tr h="5029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Target</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RF Val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XGB Val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RF Val F1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XGB Val F1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AUC Margin Δ</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NSR</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0.878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0.820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0.933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+0.069 (+7.9%)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AFb / AFl</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0.970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0.674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0.765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+0.015 (+1.5%)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1AV</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0.844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0.938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0.372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0.503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+0.094 (+11.1%)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PAC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0.902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0.305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0.423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+0.040 (+4.4%)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PVC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0.975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0.977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0.699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0.738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+0.002 (+0.2%)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BRADY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0.970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0.351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0.594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+0.029 (+3.1%)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TACHY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0.680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0.770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+0.024 (+2.5%)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Mean / Macro</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0.925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0.557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0.675</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+0.039 (+4.2%)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bl>
          </a:graphicData>
        </a:graphic>
      </p:graphicFrame>
      <p:sp>
        <p:nvSpPr>
          <p:cNvPr id="477" name="Google Shape;477;p26"/>
          <p:cNvSpPr/>
          <p:nvPr/>
        </p:nvSpPr>
        <p:spPr>
          <a:xfrm>
            <a:off x="502920" y="5989320"/>
            <a:ext cx="111858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050"/>
              <a:buFont typeface="Calibri"/>
              <a:buNone/>
            </a:pPr>
            <a:r>
              <a:rPr b="0" i="1" lang="en-US" sz="1050" u="none" cap="none" strike="noStrike">
                <a:solidFill>
                  <a:srgbClr val="898989"/>
                </a:solidFill>
                <a:latin typeface="Calibri"/>
                <a:ea typeface="Calibri"/>
                <a:cs typeface="Calibri"/>
                <a:sym typeface="Calibri"/>
              </a:rPr>
              <a:t>Table 4. Validation set (Fold 9, n = 2,180); ROC-AUC and macro F1. XGBoost outperforms Random Forest on all 7 conditions, mean AUC +0.039.</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7"/>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84" name="Google Shape;484;p27"/>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85" name="Google Shape;485;p27"/>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486" name="Google Shape;486;p27"/>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
        <p:nvSpPr>
          <p:cNvPr id="487" name="Google Shape;487;p27"/>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7"/>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4.4</a:t>
            </a:r>
            <a:endParaRPr b="0" i="0" sz="1000" u="none" cap="none" strike="noStrike">
              <a:solidFill>
                <a:schemeClr val="dk1"/>
              </a:solidFill>
              <a:latin typeface="Calibri"/>
              <a:ea typeface="Calibri"/>
              <a:cs typeface="Calibri"/>
              <a:sym typeface="Calibri"/>
            </a:endParaRPr>
          </a:p>
        </p:txBody>
      </p:sp>
      <p:sp>
        <p:nvSpPr>
          <p:cNvPr id="489" name="Google Shape;489;p27"/>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Held-Out Test Performance: Fold 10 (n = 2,195)</a:t>
            </a:r>
            <a:endParaRPr b="0" i="0" sz="2400" u="none" cap="none" strike="noStrike">
              <a:solidFill>
                <a:schemeClr val="dk1"/>
              </a:solidFill>
              <a:latin typeface="Calibri"/>
              <a:ea typeface="Calibri"/>
              <a:cs typeface="Calibri"/>
              <a:sym typeface="Calibri"/>
            </a:endParaRPr>
          </a:p>
        </p:txBody>
      </p:sp>
      <p:graphicFrame>
        <p:nvGraphicFramePr>
          <p:cNvPr id="490" name="Google Shape;490;p27"/>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1737350"/>
                <a:gridCol w="1371600"/>
                <a:gridCol w="1371600"/>
                <a:gridCol w="1508750"/>
                <a:gridCol w="1371600"/>
                <a:gridCol w="3822200"/>
              </a:tblGrid>
              <a:tr h="502925">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Target</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RF AUC</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XGB AUC</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XGB PR-AUC</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XGB F1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70"/>
                        <a:buFont typeface="Calibri"/>
                        <a:buNone/>
                      </a:pPr>
                      <a:r>
                        <a:rPr b="1" lang="en-US" sz="1070" u="none" cap="none" strike="noStrike">
                          <a:solidFill>
                            <a:srgbClr val="FFFFFF"/>
                          </a:solidFill>
                          <a:latin typeface="Calibri"/>
                          <a:ea typeface="Calibri"/>
                          <a:cs typeface="Calibri"/>
                          <a:sym typeface="Calibri"/>
                        </a:rPr>
                        <a:t>Clinical Diagnostic Grade</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NSR</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0.857</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0.923</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0.968</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0.924</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Excellent Discrimination</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AFb / AFl</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0.964</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0.974</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0.831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0.783</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Exceptional (Gold Standard)</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1AV</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0.822</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0.928</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0.373</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0.327</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High Ranking, Low Precision</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PAC</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0.915</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0.958</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0.467</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0.474</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Strong Screening Grade</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PVC</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0.972</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0.982</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0.751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0.735</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Exceptional (Gold Standard)</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BRADY</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0.943</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0.966</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0.591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0.577</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Very High Discrimination</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TACHY</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0.985</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0.992</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0.896</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0.821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Exceptional (Near Perfect)</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502925">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Mean / Macro</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0.922</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0.961</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0.697</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0.663</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70"/>
                        <a:buFont typeface="Calibri"/>
                        <a:buNone/>
                      </a:pPr>
                      <a:r>
                        <a:rPr lang="en-US" sz="1070" u="none" cap="none" strike="noStrike">
                          <a:solidFill>
                            <a:srgbClr val="1E1E1E"/>
                          </a:solidFill>
                          <a:latin typeface="Calibri"/>
                          <a:ea typeface="Calibri"/>
                          <a:cs typeface="Calibri"/>
                          <a:sym typeface="Calibri"/>
                        </a:rPr>
                        <a:t>Strong System Performance</a:t>
                      </a:r>
                      <a:endParaRPr sz="107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bl>
          </a:graphicData>
        </a:graphic>
      </p:graphicFrame>
      <p:sp>
        <p:nvSpPr>
          <p:cNvPr id="491" name="Google Shape;491;p27"/>
          <p:cNvSpPr/>
          <p:nvPr/>
        </p:nvSpPr>
        <p:spPr>
          <a:xfrm>
            <a:off x="502920" y="5989320"/>
            <a:ext cx="1118585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050"/>
              <a:buFont typeface="Calibri"/>
              <a:buNone/>
            </a:pPr>
            <a:r>
              <a:rPr b="0" i="1" lang="en-US" sz="1050" u="none" cap="none" strike="noStrike">
                <a:solidFill>
                  <a:srgbClr val="898989"/>
                </a:solidFill>
                <a:latin typeface="Calibri"/>
                <a:ea typeface="Calibri"/>
                <a:cs typeface="Calibri"/>
                <a:sym typeface="Calibri"/>
              </a:rPr>
              <a:t>Table 5. Held-out test set (Fold 10), entirely unseen at training time. XGBoost mean test ROC-AUC = 0.961.</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8"/>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498" name="Google Shape;498;p28"/>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499" name="Google Shape;499;p28"/>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00" name="Google Shape;500;p28"/>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
        <p:nvSpPr>
          <p:cNvPr id="501" name="Google Shape;501;p28"/>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8"/>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4.4</a:t>
            </a:r>
            <a:endParaRPr b="0" i="0" sz="1000" u="none" cap="none" strike="noStrike">
              <a:solidFill>
                <a:schemeClr val="dk1"/>
              </a:solidFill>
              <a:latin typeface="Calibri"/>
              <a:ea typeface="Calibri"/>
              <a:cs typeface="Calibri"/>
              <a:sym typeface="Calibri"/>
            </a:endParaRPr>
          </a:p>
        </p:txBody>
      </p:sp>
      <p:sp>
        <p:nvSpPr>
          <p:cNvPr id="503" name="Google Shape;503;p28"/>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Figure 2. ROC and Precision-Recall Curves (Fold 10)</a:t>
            </a:r>
            <a:endParaRPr b="0" i="0" sz="2400" u="none" cap="none" strike="noStrike">
              <a:solidFill>
                <a:schemeClr val="dk1"/>
              </a:solidFill>
              <a:latin typeface="Calibri"/>
              <a:ea typeface="Calibri"/>
              <a:cs typeface="Calibri"/>
              <a:sym typeface="Calibri"/>
            </a:endParaRPr>
          </a:p>
        </p:txBody>
      </p:sp>
      <p:pic>
        <p:nvPicPr>
          <p:cNvPr descr="figures/figure2_roc_pr_curves.png" id="504" name="Google Shape;504;p28"/>
          <p:cNvPicPr preferRelativeResize="0"/>
          <p:nvPr/>
        </p:nvPicPr>
        <p:blipFill rotWithShape="1">
          <a:blip r:embed="rId4">
            <a:alphaModFix/>
          </a:blip>
          <a:srcRect b="0" l="0" r="0" t="0"/>
          <a:stretch/>
        </p:blipFill>
        <p:spPr>
          <a:xfrm>
            <a:off x="1066648" y="1417320"/>
            <a:ext cx="10058400" cy="3775969"/>
          </a:xfrm>
          <a:prstGeom prst="rect">
            <a:avLst/>
          </a:prstGeom>
          <a:noFill/>
          <a:ln>
            <a:noFill/>
          </a:ln>
        </p:spPr>
      </p:pic>
      <p:sp>
        <p:nvSpPr>
          <p:cNvPr id="505" name="Google Shape;505;p28"/>
          <p:cNvSpPr/>
          <p:nvPr/>
        </p:nvSpPr>
        <p:spPr>
          <a:xfrm>
            <a:off x="502920" y="5330449"/>
            <a:ext cx="11185855"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150"/>
              <a:buFont typeface="Calibri"/>
              <a:buNone/>
            </a:pPr>
            <a:r>
              <a:rPr b="0" i="1" lang="en-US" sz="1150" u="none" cap="none" strike="noStrike">
                <a:solidFill>
                  <a:srgbClr val="898989"/>
                </a:solidFill>
                <a:latin typeface="Calibri"/>
                <a:ea typeface="Calibri"/>
                <a:cs typeface="Calibri"/>
                <a:sym typeface="Calibri"/>
              </a:rPr>
              <a:t>ROC-AUC (left) measures ranking quality independent of class balance; PR-AUC (right, = Average Precision) is more sensitive to performance on the minority (positive) class — note the wider curve dispersion on the right for rare conditions (1AV, PAC).</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9"/>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12" name="Google Shape;512;p29"/>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13" name="Google Shape;513;p29"/>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14" name="Google Shape;514;p29"/>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sp>
        <p:nvSpPr>
          <p:cNvPr id="515" name="Google Shape;515;p29"/>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9"/>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4.5</a:t>
            </a:r>
            <a:endParaRPr b="0" i="0" sz="1000" u="none" cap="none" strike="noStrike">
              <a:solidFill>
                <a:schemeClr val="dk1"/>
              </a:solidFill>
              <a:latin typeface="Calibri"/>
              <a:ea typeface="Calibri"/>
              <a:cs typeface="Calibri"/>
              <a:sym typeface="Calibri"/>
            </a:endParaRPr>
          </a:p>
        </p:txBody>
      </p:sp>
      <p:sp>
        <p:nvSpPr>
          <p:cNvPr id="517" name="Google Shape;517;p29"/>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Youden's J Threshold Optimization</a:t>
            </a:r>
            <a:endParaRPr b="0" i="0" sz="2400" u="none" cap="none" strike="noStrike">
              <a:solidFill>
                <a:schemeClr val="dk1"/>
              </a:solidFill>
              <a:latin typeface="Calibri"/>
              <a:ea typeface="Calibri"/>
              <a:cs typeface="Calibri"/>
              <a:sym typeface="Calibri"/>
            </a:endParaRPr>
          </a:p>
        </p:txBody>
      </p:sp>
      <p:sp>
        <p:nvSpPr>
          <p:cNvPr id="518" name="Google Shape;518;p29"/>
          <p:cNvSpPr/>
          <p:nvPr/>
        </p:nvSpPr>
        <p:spPr>
          <a:xfrm>
            <a:off x="502920" y="1325880"/>
            <a:ext cx="111858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400"/>
              <a:buFont typeface="Cambria"/>
              <a:buNone/>
            </a:pPr>
            <a:r>
              <a:rPr b="1" i="0" lang="en-US" sz="1400" u="none" cap="none" strike="noStrike">
                <a:solidFill>
                  <a:srgbClr val="003B70"/>
                </a:solidFill>
                <a:latin typeface="Cambria"/>
                <a:ea typeface="Cambria"/>
                <a:cs typeface="Cambria"/>
                <a:sym typeface="Cambria"/>
              </a:rPr>
              <a:t>J = Sensitivity + Specificity − 1 ,  θ* = argmax_θ J(θ)   —   optimized on Fold 9, evaluated on Fold 10.</a:t>
            </a:r>
            <a:endParaRPr b="0" i="0" sz="1400" u="none" cap="none" strike="noStrike">
              <a:solidFill>
                <a:schemeClr val="dk1"/>
              </a:solidFill>
              <a:latin typeface="Calibri"/>
              <a:ea typeface="Calibri"/>
              <a:cs typeface="Calibri"/>
              <a:sym typeface="Calibri"/>
            </a:endParaRPr>
          </a:p>
        </p:txBody>
      </p:sp>
      <p:graphicFrame>
        <p:nvGraphicFramePr>
          <p:cNvPr id="519" name="Google Shape;519;p29"/>
          <p:cNvGraphicFramePr/>
          <p:nvPr/>
        </p:nvGraphicFramePr>
        <p:xfrm>
          <a:off x="502920" y="1783080"/>
          <a:ext cx="3000000" cy="3000000"/>
        </p:xfrm>
        <a:graphic>
          <a:graphicData uri="http://schemas.openxmlformats.org/drawingml/2006/table">
            <a:tbl>
              <a:tblPr>
                <a:noFill/>
                <a:tableStyleId>{5077FDEB-68C0-4C12-AD4D-F4B8976BB019}</a:tableStyleId>
              </a:tblPr>
              <a:tblGrid>
                <a:gridCol w="2103125"/>
                <a:gridCol w="1828800"/>
                <a:gridCol w="2450600"/>
                <a:gridCol w="2450600"/>
                <a:gridCol w="2350000"/>
              </a:tblGrid>
              <a:tr h="4572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Target</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θ*</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Sens. @ 0.50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Sens. @ θ*</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Spec. @ θ*</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NSR</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0.661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92.8%</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88.0%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81.1%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AFb / AFl</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0.032</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81.5%</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92.4%</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94.1%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1AV</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0.013</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31.6%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88.6%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81.5%</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PAC</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0.001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45.0%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92.5%</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85.0%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PVC</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0.052</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78.9%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93.0%</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95.7%</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BRADY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0.007</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46.9%</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87.5%</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91.6%</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TACHY</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0.002</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84.1%</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96.3%</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50"/>
                        <a:buFont typeface="Calibri"/>
                        <a:buNone/>
                      </a:pPr>
                      <a:r>
                        <a:rPr lang="en-US" sz="1150" u="none" cap="none" strike="noStrike">
                          <a:solidFill>
                            <a:srgbClr val="1E1E1E"/>
                          </a:solidFill>
                          <a:latin typeface="Calibri"/>
                          <a:ea typeface="Calibri"/>
                          <a:cs typeface="Calibri"/>
                          <a:sym typeface="Calibri"/>
                        </a:rPr>
                        <a:t>94.7%</a:t>
                      </a:r>
                      <a:endParaRPr sz="115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520" name="Google Shape;520;p29"/>
          <p:cNvSpPr/>
          <p:nvPr/>
        </p:nvSpPr>
        <p:spPr>
          <a:xfrm>
            <a:off x="502920" y="5532120"/>
            <a:ext cx="11185855"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98989"/>
              </a:buClr>
              <a:buSzPts val="1100"/>
              <a:buFont typeface="Calibri"/>
              <a:buNone/>
            </a:pPr>
            <a:r>
              <a:rPr b="0" i="1" lang="en-US" sz="1100" u="none" cap="none" strike="noStrike">
                <a:solidFill>
                  <a:srgbClr val="898989"/>
                </a:solidFill>
                <a:latin typeface="Calibri"/>
                <a:ea typeface="Calibri"/>
                <a:cs typeface="Calibri"/>
                <a:sym typeface="Calibri"/>
              </a:rPr>
              <a:t>Largest sensitivity gains: 1AV +57.0 pts (31.6%→88.6%), PAC +47.5 pts (45.0%→92.5%), BRADY +40.6 pts (46.9%→87.5%). Note the low optimal thresholds for rare conditions (θ* ≈ 0.001–0.052), reflecting the cost-weighted loss learned during training.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0"/>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27" name="Google Shape;527;p30"/>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28" name="Google Shape;528;p30"/>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29" name="Google Shape;529;p30"/>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
        <p:nvSpPr>
          <p:cNvPr id="530" name="Google Shape;530;p30"/>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0"/>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4.5</a:t>
            </a:r>
            <a:endParaRPr b="0" i="0" sz="1000" u="none" cap="none" strike="noStrike">
              <a:solidFill>
                <a:schemeClr val="dk1"/>
              </a:solidFill>
              <a:latin typeface="Calibri"/>
              <a:ea typeface="Calibri"/>
              <a:cs typeface="Calibri"/>
              <a:sym typeface="Calibri"/>
            </a:endParaRPr>
          </a:p>
        </p:txBody>
      </p:sp>
      <p:sp>
        <p:nvSpPr>
          <p:cNvPr id="532" name="Google Shape;532;p30"/>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Figure 3. Confusion Matrices Across Threshold Strategies</a:t>
            </a:r>
            <a:endParaRPr b="0" i="0" sz="2400" u="none" cap="none" strike="noStrike">
              <a:solidFill>
                <a:schemeClr val="dk1"/>
              </a:solidFill>
              <a:latin typeface="Calibri"/>
              <a:ea typeface="Calibri"/>
              <a:cs typeface="Calibri"/>
              <a:sym typeface="Calibri"/>
            </a:endParaRPr>
          </a:p>
        </p:txBody>
      </p:sp>
      <p:pic>
        <p:nvPicPr>
          <p:cNvPr descr="figures/figure3_confusion_matrices.png" id="533" name="Google Shape;533;p30"/>
          <p:cNvPicPr preferRelativeResize="0"/>
          <p:nvPr/>
        </p:nvPicPr>
        <p:blipFill rotWithShape="1">
          <a:blip r:embed="rId4">
            <a:alphaModFix/>
          </a:blip>
          <a:srcRect b="0" l="0" r="0" t="0"/>
          <a:stretch/>
        </p:blipFill>
        <p:spPr>
          <a:xfrm>
            <a:off x="2163928" y="1417320"/>
            <a:ext cx="7863840" cy="3906471"/>
          </a:xfrm>
          <a:prstGeom prst="rect">
            <a:avLst/>
          </a:prstGeom>
          <a:noFill/>
          <a:ln>
            <a:noFill/>
          </a:ln>
        </p:spPr>
      </p:pic>
      <p:sp>
        <p:nvSpPr>
          <p:cNvPr id="534" name="Google Shape;534;p30"/>
          <p:cNvSpPr/>
          <p:nvPr/>
        </p:nvSpPr>
        <p:spPr>
          <a:xfrm>
            <a:off x="502920" y="5460951"/>
            <a:ext cx="11185855"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150"/>
              <a:buFont typeface="Calibri"/>
              <a:buNone/>
            </a:pPr>
            <a:r>
              <a:rPr b="0" i="1" lang="en-US" sz="1150" u="none" cap="none" strike="noStrike">
                <a:solidFill>
                  <a:srgbClr val="898989"/>
                </a:solidFill>
                <a:latin typeface="Calibri"/>
                <a:ea typeface="Calibri"/>
                <a:cs typeface="Calibri"/>
                <a:sym typeface="Calibri"/>
              </a:rPr>
              <a:t>Per-condition confusion matrices at the tuned threshold θ*, evaluated on Fold 10 test recordings (raw counts). Bottom-right cell = true positives correctly identified at θ*.</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1"/>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41" name="Google Shape;541;p31"/>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42" name="Google Shape;542;p31"/>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43" name="Google Shape;543;p31"/>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
        <p:nvSpPr>
          <p:cNvPr id="544" name="Google Shape;544;p31"/>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1"/>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4.6</a:t>
            </a:r>
            <a:endParaRPr b="0" i="0" sz="1000" u="none" cap="none" strike="noStrike">
              <a:solidFill>
                <a:schemeClr val="dk1"/>
              </a:solidFill>
              <a:latin typeface="Calibri"/>
              <a:ea typeface="Calibri"/>
              <a:cs typeface="Calibri"/>
              <a:sym typeface="Calibri"/>
            </a:endParaRPr>
          </a:p>
        </p:txBody>
      </p:sp>
      <p:sp>
        <p:nvSpPr>
          <p:cNvPr id="546" name="Google Shape;546;p31"/>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Probability Calibration: Brier Score Reduction</a:t>
            </a:r>
            <a:endParaRPr b="0" i="0" sz="2400" u="none" cap="none" strike="noStrike">
              <a:solidFill>
                <a:schemeClr val="dk1"/>
              </a:solidFill>
              <a:latin typeface="Calibri"/>
              <a:ea typeface="Calibri"/>
              <a:cs typeface="Calibri"/>
              <a:sym typeface="Calibri"/>
            </a:endParaRPr>
          </a:p>
        </p:txBody>
      </p:sp>
      <p:sp>
        <p:nvSpPr>
          <p:cNvPr id="547" name="Google Shape;547;p31"/>
          <p:cNvSpPr/>
          <p:nvPr/>
        </p:nvSpPr>
        <p:spPr>
          <a:xfrm>
            <a:off x="502920" y="1325880"/>
            <a:ext cx="11185855"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1E1E"/>
              </a:buClr>
              <a:buSzPts val="1250"/>
              <a:buFont typeface="Calibri"/>
              <a:buNone/>
            </a:pPr>
            <a:r>
              <a:rPr b="0" i="1" lang="en-US" sz="1250" u="none" cap="none" strike="noStrike">
                <a:solidFill>
                  <a:srgbClr val="1E1E1E"/>
                </a:solidFill>
                <a:latin typeface="Calibri"/>
                <a:ea typeface="Calibri"/>
                <a:cs typeface="Calibri"/>
                <a:sym typeface="Calibri"/>
              </a:rPr>
              <a:t>Sigmoid (Platt) scaling fit on Fold 9, evaluated on Fold 10. Brier Score = mean squared error between predicted probability and binary outcome (lower is better).</a:t>
            </a:r>
            <a:endParaRPr b="0" i="0" sz="1250" u="none" cap="none" strike="noStrike">
              <a:solidFill>
                <a:schemeClr val="dk1"/>
              </a:solidFill>
              <a:latin typeface="Calibri"/>
              <a:ea typeface="Calibri"/>
              <a:cs typeface="Calibri"/>
              <a:sym typeface="Calibri"/>
            </a:endParaRPr>
          </a:p>
        </p:txBody>
      </p:sp>
      <p:graphicFrame>
        <p:nvGraphicFramePr>
          <p:cNvPr id="548" name="Google Shape;548;p31"/>
          <p:cNvGraphicFramePr/>
          <p:nvPr/>
        </p:nvGraphicFramePr>
        <p:xfrm>
          <a:off x="502920" y="1783080"/>
          <a:ext cx="3000000" cy="3000000"/>
        </p:xfrm>
        <a:graphic>
          <a:graphicData uri="http://schemas.openxmlformats.org/drawingml/2006/table">
            <a:tbl>
              <a:tblPr>
                <a:noFill/>
                <a:tableStyleId>{5077FDEB-68C0-4C12-AD4D-F4B8976BB019}</a:tableStyleId>
              </a:tblPr>
              <a:tblGrid>
                <a:gridCol w="1691650"/>
                <a:gridCol w="2148850"/>
                <a:gridCol w="1965950"/>
                <a:gridCol w="1920250"/>
                <a:gridCol w="3456425"/>
              </a:tblGrid>
              <a:tr h="466350">
                <a:tc>
                  <a:txBody>
                    <a:bodyPr/>
                    <a:lstStyle/>
                    <a:p>
                      <a:pPr indent="0" lvl="0" marL="0" marR="0" rtl="0" algn="l">
                        <a:spcBef>
                          <a:spcPts val="0"/>
                        </a:spcBef>
                        <a:spcAft>
                          <a:spcPts val="0"/>
                        </a:spcAft>
                        <a:buClr>
                          <a:srgbClr val="FFFFFF"/>
                        </a:buClr>
                        <a:buSzPts val="1080"/>
                        <a:buFont typeface="Calibri"/>
                        <a:buNone/>
                      </a:pPr>
                      <a:r>
                        <a:rPr b="1" lang="en-US" sz="1080" u="none" cap="none" strike="noStrike">
                          <a:solidFill>
                            <a:srgbClr val="FFFFFF"/>
                          </a:solidFill>
                          <a:latin typeface="Calibri"/>
                          <a:ea typeface="Calibri"/>
                          <a:cs typeface="Calibri"/>
                          <a:sym typeface="Calibri"/>
                        </a:rPr>
                        <a:t>Target</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80"/>
                        <a:buFont typeface="Calibri"/>
                        <a:buNone/>
                      </a:pPr>
                      <a:r>
                        <a:rPr b="1" lang="en-US" sz="1080" u="none" cap="none" strike="noStrike">
                          <a:solidFill>
                            <a:srgbClr val="FFFFFF"/>
                          </a:solidFill>
                          <a:latin typeface="Calibri"/>
                          <a:ea typeface="Calibri"/>
                          <a:cs typeface="Calibri"/>
                          <a:sym typeface="Calibri"/>
                        </a:rPr>
                        <a:t>Uncalibrated Brier</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80"/>
                        <a:buFont typeface="Calibri"/>
                        <a:buNone/>
                      </a:pPr>
                      <a:r>
                        <a:rPr b="1" lang="en-US" sz="1080" u="none" cap="none" strike="noStrike">
                          <a:solidFill>
                            <a:srgbClr val="FFFFFF"/>
                          </a:solidFill>
                          <a:latin typeface="Calibri"/>
                          <a:ea typeface="Calibri"/>
                          <a:cs typeface="Calibri"/>
                          <a:sym typeface="Calibri"/>
                        </a:rPr>
                        <a:t>Calibrated Brier</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80"/>
                        <a:buFont typeface="Calibri"/>
                        <a:buNone/>
                      </a:pPr>
                      <a:r>
                        <a:rPr b="1" lang="en-US" sz="1080" u="none" cap="none" strike="noStrike">
                          <a:solidFill>
                            <a:srgbClr val="FFFFFF"/>
                          </a:solidFill>
                          <a:latin typeface="Calibri"/>
                          <a:ea typeface="Calibri"/>
                          <a:cs typeface="Calibri"/>
                          <a:sym typeface="Calibri"/>
                        </a:rPr>
                        <a:t>Error Reduction</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80"/>
                        <a:buFont typeface="Calibri"/>
                        <a:buNone/>
                      </a:pPr>
                      <a:r>
                        <a:rPr b="1" lang="en-US" sz="1080" u="none" cap="none" strike="noStrike">
                          <a:solidFill>
                            <a:srgbClr val="FFFFFF"/>
                          </a:solidFill>
                          <a:latin typeface="Calibri"/>
                          <a:ea typeface="Calibri"/>
                          <a:cs typeface="Calibri"/>
                          <a:sym typeface="Calibri"/>
                        </a:rPr>
                        <a:t>Assessment</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1AV</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0.0337</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0.0290</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13.9%</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Major improvement; eliminates over-confidence</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PVC</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0.0235</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0.0204</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13.2%</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Substantial reduction</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PAC</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0.0145</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0.0126</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12.9%</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Significant gain on rare positive class</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TACHY</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0.0119</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0.0105</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12.4%</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Excellent probability precision</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BRADY</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0.0181</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0.0175</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3.8%</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Consistent probability alignment</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NSR</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0.0841</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0.0811</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3.6%</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Well-calibrated baseline</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66350">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AFb / AFl</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0.0258</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0.0252</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2.1%</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80"/>
                        <a:buFont typeface="Calibri"/>
                        <a:buNone/>
                      </a:pPr>
                      <a:r>
                        <a:rPr lang="en-US" sz="1080" u="none" cap="none" strike="noStrike">
                          <a:solidFill>
                            <a:srgbClr val="1E1E1E"/>
                          </a:solidFill>
                          <a:latin typeface="Calibri"/>
                          <a:ea typeface="Calibri"/>
                          <a:cs typeface="Calibri"/>
                          <a:sym typeface="Calibri"/>
                        </a:rPr>
                        <a:t>Slight gain, high-confidence predictions</a:t>
                      </a:r>
                      <a:endParaRPr sz="108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2"/>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55" name="Google Shape;555;p32"/>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56" name="Google Shape;556;p32"/>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57" name="Google Shape;557;p32"/>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
        <p:nvSpPr>
          <p:cNvPr id="558" name="Google Shape;558;p32"/>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2"/>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4.6</a:t>
            </a:r>
            <a:endParaRPr b="0" i="0" sz="1000" u="none" cap="none" strike="noStrike">
              <a:solidFill>
                <a:schemeClr val="dk1"/>
              </a:solidFill>
              <a:latin typeface="Calibri"/>
              <a:ea typeface="Calibri"/>
              <a:cs typeface="Calibri"/>
              <a:sym typeface="Calibri"/>
            </a:endParaRPr>
          </a:p>
        </p:txBody>
      </p:sp>
      <p:sp>
        <p:nvSpPr>
          <p:cNvPr id="560" name="Google Shape;560;p32"/>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Figure 4. Reliability Diagrams: Platt Scaling</a:t>
            </a:r>
            <a:endParaRPr b="0" i="0" sz="2400" u="none" cap="none" strike="noStrike">
              <a:solidFill>
                <a:schemeClr val="dk1"/>
              </a:solidFill>
              <a:latin typeface="Calibri"/>
              <a:ea typeface="Calibri"/>
              <a:cs typeface="Calibri"/>
              <a:sym typeface="Calibri"/>
            </a:endParaRPr>
          </a:p>
        </p:txBody>
      </p:sp>
      <p:pic>
        <p:nvPicPr>
          <p:cNvPr descr="figures/figure4_calibration_curves.png" id="561" name="Google Shape;561;p32"/>
          <p:cNvPicPr preferRelativeResize="0"/>
          <p:nvPr/>
        </p:nvPicPr>
        <p:blipFill rotWithShape="1">
          <a:blip r:embed="rId4">
            <a:alphaModFix/>
          </a:blip>
          <a:srcRect b="0" l="0" r="0" t="0"/>
          <a:stretch/>
        </p:blipFill>
        <p:spPr>
          <a:xfrm>
            <a:off x="502920" y="1417320"/>
            <a:ext cx="6766560" cy="3338763"/>
          </a:xfrm>
          <a:prstGeom prst="rect">
            <a:avLst/>
          </a:prstGeom>
          <a:noFill/>
          <a:ln>
            <a:noFill/>
          </a:ln>
        </p:spPr>
      </p:pic>
      <p:sp>
        <p:nvSpPr>
          <p:cNvPr id="562" name="Google Shape;562;p32"/>
          <p:cNvSpPr/>
          <p:nvPr/>
        </p:nvSpPr>
        <p:spPr>
          <a:xfrm>
            <a:off x="7589520" y="1554480"/>
            <a:ext cx="4099255" cy="39319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150"/>
              <a:buFont typeface="Calibri"/>
              <a:buChar char="●"/>
            </a:pPr>
            <a:r>
              <a:rPr b="0" i="0" lang="en-US" sz="1150" u="none" cap="none" strike="noStrike">
                <a:solidFill>
                  <a:srgbClr val="1E1E1E"/>
                </a:solidFill>
                <a:latin typeface="Calibri"/>
                <a:ea typeface="Calibri"/>
                <a:cs typeface="Calibri"/>
                <a:sym typeface="Calibri"/>
              </a:rPr>
              <a:t>Dashed diagonal = perfect calibration (predicted probability = empirical frequency).</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1000"/>
              </a:spcBef>
              <a:spcAft>
                <a:spcPts val="0"/>
              </a:spcAft>
              <a:buClr>
                <a:srgbClr val="1E1E1E"/>
              </a:buClr>
              <a:buSzPts val="1150"/>
              <a:buFont typeface="Calibri"/>
              <a:buChar char="●"/>
            </a:pPr>
            <a:r>
              <a:rPr b="0" i="0" lang="en-US" sz="1150" u="none" cap="none" strike="noStrike">
                <a:solidFill>
                  <a:srgbClr val="1E1E1E"/>
                </a:solidFill>
                <a:latin typeface="Calibri"/>
                <a:ea typeface="Calibri"/>
                <a:cs typeface="Calibri"/>
                <a:sym typeface="Calibri"/>
              </a:rPr>
              <a:t>Orange (calibrated) tracks the diagonal more closely than blue (uncalibrated) across all 7 conditions, quantitatively confirmed by the Brier score reductions on the prior slide.</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1000"/>
              </a:spcBef>
              <a:spcAft>
                <a:spcPts val="0"/>
              </a:spcAft>
              <a:buClr>
                <a:srgbClr val="1E1E1E"/>
              </a:buClr>
              <a:buSzPts val="1150"/>
              <a:buFont typeface="Calibri"/>
              <a:buChar char="●"/>
            </a:pPr>
            <a:r>
              <a:rPr b="0" i="0" lang="en-US" sz="1150" u="none" cap="none" strike="noStrike">
                <a:solidFill>
                  <a:srgbClr val="1E1E1E"/>
                </a:solidFill>
                <a:latin typeface="Calibri"/>
                <a:ea typeface="Calibri"/>
                <a:cs typeface="Calibri"/>
                <a:sym typeface="Calibri"/>
              </a:rPr>
              <a:t>Calibrated probabilities are a prerequisite for any downstream clinical decision-support use of the raw model score, beyond the binary threshold call.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3"/>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69" name="Google Shape;569;p33"/>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70" name="Google Shape;570;p33"/>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71" name="Google Shape;571;p33"/>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30</a:t>
            </a:r>
            <a:endParaRPr b="0" i="0" sz="900" u="none" cap="none" strike="noStrike">
              <a:solidFill>
                <a:schemeClr val="dk1"/>
              </a:solidFill>
              <a:latin typeface="Calibri"/>
              <a:ea typeface="Calibri"/>
              <a:cs typeface="Calibri"/>
              <a:sym typeface="Calibri"/>
            </a:endParaRPr>
          </a:p>
        </p:txBody>
      </p:sp>
      <p:sp>
        <p:nvSpPr>
          <p:cNvPr id="572" name="Google Shape;572;p33"/>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3"/>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4.7</a:t>
            </a:r>
            <a:endParaRPr b="0" i="0" sz="1000" u="none" cap="none" strike="noStrike">
              <a:solidFill>
                <a:schemeClr val="dk1"/>
              </a:solidFill>
              <a:latin typeface="Calibri"/>
              <a:ea typeface="Calibri"/>
              <a:cs typeface="Calibri"/>
              <a:sym typeface="Calibri"/>
            </a:endParaRPr>
          </a:p>
        </p:txBody>
      </p:sp>
      <p:sp>
        <p:nvSpPr>
          <p:cNvPr id="574" name="Google Shape;574;p33"/>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Generalization Gap: Intra- vs. Inter-Patient Splits</a:t>
            </a:r>
            <a:endParaRPr b="0" i="0" sz="2400" u="none" cap="none" strike="noStrike">
              <a:solidFill>
                <a:schemeClr val="dk1"/>
              </a:solidFill>
              <a:latin typeface="Calibri"/>
              <a:ea typeface="Calibri"/>
              <a:cs typeface="Calibri"/>
              <a:sym typeface="Calibri"/>
            </a:endParaRPr>
          </a:p>
        </p:txBody>
      </p:sp>
      <p:graphicFrame>
        <p:nvGraphicFramePr>
          <p:cNvPr id="575" name="Google Shape;575;p33"/>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1737350"/>
                <a:gridCol w="2377450"/>
                <a:gridCol w="2377450"/>
                <a:gridCol w="1554475"/>
                <a:gridCol w="3136400"/>
              </a:tblGrid>
              <a:tr h="4572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Target</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Intra-Patient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Inter-Patient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Δ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Overfitting Risk</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NSR</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0.923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0.023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Low</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AFb / AFl</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0.974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0.009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Minimal</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1AV</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0.944</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0.928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0.016</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Low</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PAC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0.958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0.021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Low</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PVC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−0.001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Zero Decay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BRADY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0.966</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−0.003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Zero Decay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TACHY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0.990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0.992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−0.002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Zero Decay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576" name="Google Shape;576;p33"/>
          <p:cNvSpPr/>
          <p:nvPr/>
        </p:nvSpPr>
        <p:spPr>
          <a:xfrm>
            <a:off x="502920" y="5440680"/>
            <a:ext cx="11185855"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150"/>
              <a:buFont typeface="Calibri"/>
              <a:buNone/>
            </a:pPr>
            <a:r>
              <a:rPr b="0" i="1" lang="en-US" sz="1150" u="none" cap="none" strike="noStrike">
                <a:solidFill>
                  <a:srgbClr val="898989"/>
                </a:solidFill>
                <a:latin typeface="Calibri"/>
                <a:ea typeface="Calibri"/>
                <a:cs typeface="Calibri"/>
                <a:sym typeface="Calibri"/>
              </a:rPr>
              <a:t>Maximum generalization decay across all 7 conditions: 0.023 AUC (NSR). 3 of 7 conditions show zero or negative decay, indicating no measurable patient memorization (RQ4).</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4"/>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83" name="Google Shape;583;p34"/>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84" name="Google Shape;584;p34"/>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85" name="Google Shape;585;p34"/>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
        <p:nvSpPr>
          <p:cNvPr id="586" name="Google Shape;586;p34"/>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4"/>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4.7</a:t>
            </a:r>
            <a:endParaRPr b="0" i="0" sz="1000" u="none" cap="none" strike="noStrike">
              <a:solidFill>
                <a:schemeClr val="dk1"/>
              </a:solidFill>
              <a:latin typeface="Calibri"/>
              <a:ea typeface="Calibri"/>
              <a:cs typeface="Calibri"/>
              <a:sym typeface="Calibri"/>
            </a:endParaRPr>
          </a:p>
        </p:txBody>
      </p:sp>
      <p:sp>
        <p:nvSpPr>
          <p:cNvPr id="588" name="Google Shape;588;p34"/>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Figure 5. Generalization Performance Gap</a:t>
            </a:r>
            <a:endParaRPr b="0" i="0" sz="2400" u="none" cap="none" strike="noStrike">
              <a:solidFill>
                <a:schemeClr val="dk1"/>
              </a:solidFill>
              <a:latin typeface="Calibri"/>
              <a:ea typeface="Calibri"/>
              <a:cs typeface="Calibri"/>
              <a:sym typeface="Calibri"/>
            </a:endParaRPr>
          </a:p>
        </p:txBody>
      </p:sp>
      <p:pic>
        <p:nvPicPr>
          <p:cNvPr descr="figures/figure5_generalization_gap.png" id="589" name="Google Shape;589;p34"/>
          <p:cNvPicPr preferRelativeResize="0"/>
          <p:nvPr/>
        </p:nvPicPr>
        <p:blipFill rotWithShape="1">
          <a:blip r:embed="rId4">
            <a:alphaModFix/>
          </a:blip>
          <a:srcRect b="0" l="0" r="0" t="0"/>
          <a:stretch/>
        </p:blipFill>
        <p:spPr>
          <a:xfrm>
            <a:off x="1981048" y="1463040"/>
            <a:ext cx="8229600" cy="4114800"/>
          </a:xfrm>
          <a:prstGeom prst="rect">
            <a:avLst/>
          </a:prstGeom>
          <a:noFill/>
          <a:ln>
            <a:noFill/>
          </a:ln>
        </p:spPr>
      </p:pic>
      <p:sp>
        <p:nvSpPr>
          <p:cNvPr id="590" name="Google Shape;590;p34"/>
          <p:cNvSpPr/>
          <p:nvPr/>
        </p:nvSpPr>
        <p:spPr>
          <a:xfrm>
            <a:off x="502920" y="5715000"/>
            <a:ext cx="1118585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150"/>
              <a:buFont typeface="Calibri"/>
              <a:buNone/>
            </a:pPr>
            <a:r>
              <a:rPr b="0" i="1" lang="en-US" sz="1150" u="none" cap="none" strike="noStrike">
                <a:solidFill>
                  <a:srgbClr val="898989"/>
                </a:solidFill>
                <a:latin typeface="Calibri"/>
                <a:ea typeface="Calibri"/>
                <a:cs typeface="Calibri"/>
                <a:sym typeface="Calibri"/>
              </a:rPr>
              <a:t>Paired bar comparison, intra-patient (patient leakage, blue) vs. inter-patient (strict disjoint, orange) ROC-AUC, per condition.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5"/>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597" name="Google Shape;597;p35"/>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598" name="Google Shape;598;p35"/>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599" name="Google Shape;599;p35"/>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
        <p:nvSpPr>
          <p:cNvPr id="600" name="Google Shape;600;p35"/>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4.8</a:t>
            </a:r>
            <a:endParaRPr b="0" i="0" sz="1000" u="none" cap="none" strike="noStrike">
              <a:solidFill>
                <a:schemeClr val="dk1"/>
              </a:solidFill>
              <a:latin typeface="Calibri"/>
              <a:ea typeface="Calibri"/>
              <a:cs typeface="Calibri"/>
              <a:sym typeface="Calibri"/>
            </a:endParaRPr>
          </a:p>
        </p:txBody>
      </p:sp>
      <p:sp>
        <p:nvSpPr>
          <p:cNvPr id="602" name="Google Shape;602;p35"/>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Wearable Signal Noise Robustness (Additive Gaussian)</a:t>
            </a:r>
            <a:endParaRPr b="0" i="0" sz="2400" u="none" cap="none" strike="noStrike">
              <a:solidFill>
                <a:schemeClr val="dk1"/>
              </a:solidFill>
              <a:latin typeface="Calibri"/>
              <a:ea typeface="Calibri"/>
              <a:cs typeface="Calibri"/>
              <a:sym typeface="Calibri"/>
            </a:endParaRPr>
          </a:p>
        </p:txBody>
      </p:sp>
      <p:graphicFrame>
        <p:nvGraphicFramePr>
          <p:cNvPr id="603" name="Google Shape;603;p35"/>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1417325"/>
                <a:gridCol w="1133850"/>
                <a:gridCol w="1133850"/>
                <a:gridCol w="1133850"/>
                <a:gridCol w="1133850"/>
                <a:gridCol w="1133850"/>
                <a:gridCol w="1133850"/>
                <a:gridCol w="1133850"/>
                <a:gridCol w="1792225"/>
              </a:tblGrid>
              <a:tr h="38405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SNR Level</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NSR</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AFb/AFl</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1AV</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PAC</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PVC</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BRADY</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TACHY</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Mean</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384050">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Clean</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0.923</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0.974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0.928</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0.958</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0.982</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0.966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0.992</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0.961</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384050">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20 dB</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0.841</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0.921</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0.748</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0.918</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0.879</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0.884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0.990</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0.883</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10 dB</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0.763</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0.830</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0.633</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0.805</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0.831</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0.814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0.966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0.806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384050">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5 dB</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0.700</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0.737</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0.584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0.759</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0.786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0.766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0.930</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0.752</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 dB</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0.626</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0.622</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0.561</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0.654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0.707</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0.694</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0.860</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000"/>
                        <a:buFont typeface="Calibri"/>
                        <a:buNone/>
                      </a:pPr>
                      <a:r>
                        <a:rPr lang="en-US" sz="1000" u="none" cap="none" strike="noStrike">
                          <a:solidFill>
                            <a:srgbClr val="1E1E1E"/>
                          </a:solidFill>
                          <a:latin typeface="Calibri"/>
                          <a:ea typeface="Calibri"/>
                          <a:cs typeface="Calibri"/>
                          <a:sym typeface="Calibri"/>
                        </a:rPr>
                        <a:t>0.675</a:t>
                      </a:r>
                      <a:endParaRPr sz="10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604" name="Google Shape;604;p35"/>
          <p:cNvSpPr/>
          <p:nvPr/>
        </p:nvSpPr>
        <p:spPr>
          <a:xfrm>
            <a:off x="502920" y="3977640"/>
            <a:ext cx="111858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B70"/>
              </a:buClr>
              <a:buSzPts val="1200"/>
              <a:buFont typeface="Calibri"/>
              <a:buNone/>
            </a:pPr>
            <a:r>
              <a:rPr b="1" i="0" lang="en-US" sz="1200" u="none" cap="none" strike="noStrike">
                <a:solidFill>
                  <a:srgbClr val="003B70"/>
                </a:solidFill>
                <a:latin typeface="Calibri"/>
                <a:ea typeface="Calibri"/>
                <a:cs typeface="Calibri"/>
                <a:sym typeface="Calibri"/>
              </a:rPr>
              <a:t>10 dB SNR identified as the resilient operational limit for free-living screening (mean AUC 0.806) — directly answers RQ3.</a:t>
            </a:r>
            <a:endParaRPr b="0" i="0" sz="1200" u="none" cap="none" strike="noStrike">
              <a:solidFill>
                <a:schemeClr val="dk1"/>
              </a:solidFill>
              <a:latin typeface="Calibri"/>
              <a:ea typeface="Calibri"/>
              <a:cs typeface="Calibri"/>
              <a:sym typeface="Calibri"/>
            </a:endParaRPr>
          </a:p>
        </p:txBody>
      </p:sp>
      <p:pic>
        <p:nvPicPr>
          <p:cNvPr descr="figures/figure6_noise_robustness.png" id="605" name="Google Shape;605;p35"/>
          <p:cNvPicPr preferRelativeResize="0"/>
          <p:nvPr/>
        </p:nvPicPr>
        <p:blipFill rotWithShape="1">
          <a:blip r:embed="rId4">
            <a:alphaModFix/>
          </a:blip>
          <a:srcRect b="0" l="0" r="0" t="0"/>
          <a:stretch/>
        </p:blipFill>
        <p:spPr>
          <a:xfrm>
            <a:off x="3844228" y="4251970"/>
            <a:ext cx="4579788" cy="219456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6"/>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12" name="Google Shape;612;p36"/>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13" name="Google Shape;613;p36"/>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14" name="Google Shape;614;p36"/>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
        <p:nvSpPr>
          <p:cNvPr id="615" name="Google Shape;615;p36"/>
          <p:cNvSpPr/>
          <p:nvPr/>
        </p:nvSpPr>
        <p:spPr>
          <a:xfrm>
            <a:off x="502920" y="274320"/>
            <a:ext cx="2912364"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6"/>
          <p:cNvSpPr/>
          <p:nvPr/>
        </p:nvSpPr>
        <p:spPr>
          <a:xfrm>
            <a:off x="502920" y="274320"/>
            <a:ext cx="291236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4.9</a:t>
            </a:r>
            <a:endParaRPr b="0" i="0" sz="1000" u="none" cap="none" strike="noStrike">
              <a:solidFill>
                <a:schemeClr val="dk1"/>
              </a:solidFill>
              <a:latin typeface="Calibri"/>
              <a:ea typeface="Calibri"/>
              <a:cs typeface="Calibri"/>
              <a:sym typeface="Calibri"/>
            </a:endParaRPr>
          </a:p>
        </p:txBody>
      </p:sp>
      <p:sp>
        <p:nvSpPr>
          <p:cNvPr id="617" name="Google Shape;617;p36"/>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Demographic Fairness and Subgroup Parity</a:t>
            </a:r>
            <a:endParaRPr b="0" i="0" sz="2400" u="none" cap="none" strike="noStrike">
              <a:solidFill>
                <a:schemeClr val="dk1"/>
              </a:solidFill>
              <a:latin typeface="Calibri"/>
              <a:ea typeface="Calibri"/>
              <a:cs typeface="Calibri"/>
              <a:sym typeface="Calibri"/>
            </a:endParaRPr>
          </a:p>
        </p:txBody>
      </p:sp>
      <p:graphicFrame>
        <p:nvGraphicFramePr>
          <p:cNvPr id="618" name="Google Shape;618;p36"/>
          <p:cNvGraphicFramePr/>
          <p:nvPr/>
        </p:nvGraphicFramePr>
        <p:xfrm>
          <a:off x="502920" y="1417320"/>
          <a:ext cx="3000000" cy="3000000"/>
        </p:xfrm>
        <a:graphic>
          <a:graphicData uri="http://schemas.openxmlformats.org/drawingml/2006/table">
            <a:tbl>
              <a:tblPr>
                <a:noFill/>
                <a:tableStyleId>{5077FDEB-68C0-4C12-AD4D-F4B8976BB019}</a:tableStyleId>
              </a:tblPr>
              <a:tblGrid>
                <a:gridCol w="1280150"/>
                <a:gridCol w="1645925"/>
                <a:gridCol w="1005850"/>
                <a:gridCol w="1645925"/>
                <a:gridCol w="1737350"/>
                <a:gridCol w="1463050"/>
                <a:gridCol w="2404875"/>
              </a:tblGrid>
              <a:tr h="4572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Category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Subgroup</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n</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Mean Test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AFb/AFl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PVC AUC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Parity Status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Age</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&lt; 50 years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556</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0.957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0.902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0.993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High Parity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Age</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50–70 years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898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0.966</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0.987</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Optimal Parity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Age</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&gt; 70 years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741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0.942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0.959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0.968</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High Parity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Sex</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Female</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1,132</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0.969</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Equal Parity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Sex</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Male</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1,063</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0.960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0.980</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0.981</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Equal Parity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bl>
          </a:graphicData>
        </a:graphic>
      </p:graphicFrame>
      <p:sp>
        <p:nvSpPr>
          <p:cNvPr id="619" name="Google Shape;619;p36"/>
          <p:cNvSpPr/>
          <p:nvPr/>
        </p:nvSpPr>
        <p:spPr>
          <a:xfrm>
            <a:off x="502920" y="4709160"/>
            <a:ext cx="11185855"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98989"/>
              </a:buClr>
              <a:buSzPts val="1200"/>
              <a:buFont typeface="Calibri"/>
              <a:buNone/>
            </a:pPr>
            <a:r>
              <a:rPr b="0" i="1" lang="en-US" sz="1200" u="none" cap="none" strike="noStrike">
                <a:solidFill>
                  <a:srgbClr val="898989"/>
                </a:solidFill>
                <a:latin typeface="Calibri"/>
                <a:ea typeface="Calibri"/>
                <a:cs typeface="Calibri"/>
                <a:sym typeface="Calibri"/>
              </a:rPr>
              <a:t>Directly answers the second half of RQ4: diagnostic parity confirmed across all age bands and sex cohorts on the Fold 10 test set (Section 4.9).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7"/>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26" name="Google Shape;626;p37"/>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27" name="Google Shape;627;p37"/>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28" name="Google Shape;628;p37"/>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34</a:t>
            </a:r>
            <a:endParaRPr b="0" i="0" sz="900" u="none" cap="none" strike="noStrike">
              <a:solidFill>
                <a:schemeClr val="dk1"/>
              </a:solidFill>
              <a:latin typeface="Calibri"/>
              <a:ea typeface="Calibri"/>
              <a:cs typeface="Calibri"/>
              <a:sym typeface="Calibri"/>
            </a:endParaRPr>
          </a:p>
        </p:txBody>
      </p:sp>
      <p:sp>
        <p:nvSpPr>
          <p:cNvPr id="629" name="Google Shape;629;p37"/>
          <p:cNvSpPr/>
          <p:nvPr/>
        </p:nvSpPr>
        <p:spPr>
          <a:xfrm>
            <a:off x="502920" y="274320"/>
            <a:ext cx="2986430"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7"/>
          <p:cNvSpPr/>
          <p:nvPr/>
        </p:nvSpPr>
        <p:spPr>
          <a:xfrm>
            <a:off x="502920" y="274320"/>
            <a:ext cx="298643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SECTION 4 · MODEL DIAGNOSTICS · 4.10</a:t>
            </a:r>
            <a:endParaRPr b="0" i="0" sz="1000" u="none" cap="none" strike="noStrike">
              <a:solidFill>
                <a:schemeClr val="dk1"/>
              </a:solidFill>
              <a:latin typeface="Calibri"/>
              <a:ea typeface="Calibri"/>
              <a:cs typeface="Calibri"/>
              <a:sym typeface="Calibri"/>
            </a:endParaRPr>
          </a:p>
        </p:txBody>
      </p:sp>
      <p:sp>
        <p:nvSpPr>
          <p:cNvPr id="631" name="Google Shape;631;p37"/>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TreeSHAP Explainability and Feature Attribution</a:t>
            </a:r>
            <a:endParaRPr b="0" i="0" sz="2400" u="none" cap="none" strike="noStrike">
              <a:solidFill>
                <a:schemeClr val="dk1"/>
              </a:solidFill>
              <a:latin typeface="Calibri"/>
              <a:ea typeface="Calibri"/>
              <a:cs typeface="Calibri"/>
              <a:sym typeface="Calibri"/>
            </a:endParaRPr>
          </a:p>
        </p:txBody>
      </p:sp>
      <p:pic>
        <p:nvPicPr>
          <p:cNvPr descr="figures/figure7_treeshap.png" id="632" name="Google Shape;632;p37"/>
          <p:cNvPicPr preferRelativeResize="0"/>
          <p:nvPr/>
        </p:nvPicPr>
        <p:blipFill rotWithShape="1">
          <a:blip r:embed="rId4">
            <a:alphaModFix/>
          </a:blip>
          <a:srcRect b="0" l="0" r="0" t="0"/>
          <a:stretch/>
        </p:blipFill>
        <p:spPr>
          <a:xfrm>
            <a:off x="8243296" y="1417320"/>
            <a:ext cx="3445479" cy="4114800"/>
          </a:xfrm>
          <a:prstGeom prst="rect">
            <a:avLst/>
          </a:prstGeom>
          <a:noFill/>
          <a:ln>
            <a:noFill/>
          </a:ln>
        </p:spPr>
      </p:pic>
      <p:sp>
        <p:nvSpPr>
          <p:cNvPr id="633" name="Google Shape;633;p37"/>
          <p:cNvSpPr/>
          <p:nvPr/>
        </p:nvSpPr>
        <p:spPr>
          <a:xfrm>
            <a:off x="502920" y="1417320"/>
            <a:ext cx="7420336"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E1E1E"/>
              </a:buClr>
              <a:buSzPts val="1200"/>
              <a:buFont typeface="Calibri"/>
              <a:buNone/>
            </a:pPr>
            <a:r>
              <a:rPr b="0" i="1" lang="en-US" sz="1200" u="none" cap="none" strike="noStrike">
                <a:solidFill>
                  <a:srgbClr val="1E1E1E"/>
                </a:solidFill>
                <a:latin typeface="Calibri"/>
                <a:ea typeface="Calibri"/>
                <a:cs typeface="Calibri"/>
                <a:sym typeface="Calibri"/>
              </a:rPr>
              <a:t>TreeSHAP (SHapley Additive exPlanations) attributes each prediction to per-feature marginal contributions, aggregated to global importance rankings (Figure 7).</a:t>
            </a:r>
            <a:endParaRPr b="0" i="0" sz="1200" u="none" cap="none" strike="noStrike">
              <a:solidFill>
                <a:schemeClr val="dk1"/>
              </a:solidFill>
              <a:latin typeface="Calibri"/>
              <a:ea typeface="Calibri"/>
              <a:cs typeface="Calibri"/>
              <a:sym typeface="Calibri"/>
            </a:endParaRPr>
          </a:p>
        </p:txBody>
      </p:sp>
      <p:graphicFrame>
        <p:nvGraphicFramePr>
          <p:cNvPr id="634" name="Google Shape;634;p37"/>
          <p:cNvGraphicFramePr/>
          <p:nvPr/>
        </p:nvGraphicFramePr>
        <p:xfrm>
          <a:off x="502920" y="2377440"/>
          <a:ext cx="3000000" cy="3000000"/>
        </p:xfrm>
        <a:graphic>
          <a:graphicData uri="http://schemas.openxmlformats.org/drawingml/2006/table">
            <a:tbl>
              <a:tblPr>
                <a:noFill/>
                <a:tableStyleId>{5077FDEB-68C0-4C12-AD4D-F4B8976BB019}</a:tableStyleId>
              </a:tblPr>
              <a:tblGrid>
                <a:gridCol w="4081175"/>
                <a:gridCol w="3339150"/>
              </a:tblGrid>
              <a:tr h="384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Driving Feature(s)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Target Condition(s)</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0070B9"/>
                    </a:solidFill>
                  </a:tcPr>
                </a:tc>
              </a:tr>
              <a:tr h="38405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rr_mean, heart_rate_bpm</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TACHY, BRADY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38405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rr_std, rmssd</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AFb/AFl, PAC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qrs_width_proxy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PVC</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5F5F5"/>
                    </a:solidFill>
                  </a:tcPr>
                </a:tc>
              </a:tr>
              <a:tr h="384050">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pr_interval_proxy</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E1E1E"/>
                        </a:buClr>
                        <a:buSzPts val="1100"/>
                        <a:buFont typeface="Calibri"/>
                        <a:buNone/>
                      </a:pPr>
                      <a:r>
                        <a:rPr lang="en-US" sz="1100" u="none" cap="none" strike="noStrike">
                          <a:solidFill>
                            <a:srgbClr val="1E1E1E"/>
                          </a:solidFill>
                          <a:latin typeface="Calibri"/>
                          <a:ea typeface="Calibri"/>
                          <a:cs typeface="Calibri"/>
                          <a:sym typeface="Calibri"/>
                        </a:rPr>
                        <a:t>1AV</a:t>
                      </a:r>
                      <a:endParaRPr sz="1100" u="none" cap="none" strike="noStrike">
                        <a:latin typeface="Calibri"/>
                        <a:ea typeface="Calibri"/>
                        <a:cs typeface="Calibri"/>
                        <a:sym typeface="Calibri"/>
                      </a:endParaRPr>
                    </a:p>
                  </a:txBody>
                  <a:tcPr marT="45725" marB="45725" marR="91450" marL="9145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rgbClr val="FFFFFF"/>
                    </a:solidFill>
                  </a:tcPr>
                </a:tc>
              </a:tr>
            </a:tbl>
          </a:graphicData>
        </a:graphic>
      </p:graphicFrame>
      <p:sp>
        <p:nvSpPr>
          <p:cNvPr id="635" name="Google Shape;635;p37"/>
          <p:cNvSpPr/>
          <p:nvPr/>
        </p:nvSpPr>
        <p:spPr>
          <a:xfrm>
            <a:off x="502920" y="4434840"/>
            <a:ext cx="7420336"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70B9"/>
              </a:buClr>
              <a:buSzPts val="1150"/>
              <a:buFont typeface="Calibri"/>
              <a:buNone/>
            </a:pPr>
            <a:r>
              <a:rPr b="1" i="0" lang="en-US" sz="1150" u="none" cap="none" strike="noStrike">
                <a:solidFill>
                  <a:srgbClr val="0070B9"/>
                </a:solidFill>
                <a:latin typeface="Calibri"/>
                <a:ea typeface="Calibri"/>
                <a:cs typeface="Calibri"/>
                <a:sym typeface="Calibri"/>
              </a:rPr>
              <a:t>Attribution aligns with established clinical cardiology principles rather than spurious correlations, supporting model trustworthiness beyond aggregate accuracy.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8"/>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42" name="Google Shape;642;p38"/>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43" name="Google Shape;643;p38"/>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44" name="Google Shape;644;p38"/>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35</a:t>
            </a:r>
            <a:endParaRPr b="0" i="0" sz="900" u="none" cap="none" strike="noStrike">
              <a:solidFill>
                <a:schemeClr val="dk1"/>
              </a:solidFill>
              <a:latin typeface="Calibri"/>
              <a:ea typeface="Calibri"/>
              <a:cs typeface="Calibri"/>
              <a:sym typeface="Calibri"/>
            </a:endParaRPr>
          </a:p>
        </p:txBody>
      </p:sp>
      <p:sp>
        <p:nvSpPr>
          <p:cNvPr id="645" name="Google Shape;645;p38"/>
          <p:cNvSpPr/>
          <p:nvPr/>
        </p:nvSpPr>
        <p:spPr>
          <a:xfrm>
            <a:off x="502920" y="274320"/>
            <a:ext cx="194950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8"/>
          <p:cNvSpPr/>
          <p:nvPr/>
        </p:nvSpPr>
        <p:spPr>
          <a:xfrm>
            <a:off x="502920" y="274320"/>
            <a:ext cx="194950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CONCLUSION · 5.1 / 5.2</a:t>
            </a:r>
            <a:endParaRPr b="0" i="0" sz="1000" u="none" cap="none" strike="noStrike">
              <a:solidFill>
                <a:schemeClr val="dk1"/>
              </a:solidFill>
              <a:latin typeface="Calibri"/>
              <a:ea typeface="Calibri"/>
              <a:cs typeface="Calibri"/>
              <a:sym typeface="Calibri"/>
            </a:endParaRPr>
          </a:p>
        </p:txBody>
      </p:sp>
      <p:sp>
        <p:nvSpPr>
          <p:cNvPr id="647" name="Google Shape;647;p38"/>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Summary of Contributions and Clinical Implications</a:t>
            </a:r>
            <a:endParaRPr b="0" i="0" sz="2400" u="none" cap="none" strike="noStrike">
              <a:solidFill>
                <a:schemeClr val="dk1"/>
              </a:solidFill>
              <a:latin typeface="Calibri"/>
              <a:ea typeface="Calibri"/>
              <a:cs typeface="Calibri"/>
              <a:sym typeface="Calibri"/>
            </a:endParaRPr>
          </a:p>
        </p:txBody>
      </p:sp>
      <p:sp>
        <p:nvSpPr>
          <p:cNvPr id="648" name="Google Shape;648;p38"/>
          <p:cNvSpPr/>
          <p:nvPr/>
        </p:nvSpPr>
        <p:spPr>
          <a:xfrm>
            <a:off x="502920" y="1417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400"/>
              <a:buFont typeface="Calibri"/>
              <a:buNone/>
            </a:pPr>
            <a:r>
              <a:rPr b="1" i="0" lang="en-US" sz="1400" u="none" cap="none" strike="noStrike">
                <a:solidFill>
                  <a:srgbClr val="0070B9"/>
                </a:solidFill>
                <a:latin typeface="Calibri"/>
                <a:ea typeface="Calibri"/>
                <a:cs typeface="Calibri"/>
                <a:sym typeface="Calibri"/>
              </a:rPr>
              <a:t>Key Findings (Report §5.1)</a:t>
            </a:r>
            <a:endParaRPr b="0" i="0" sz="1400" u="none" cap="none" strike="noStrike">
              <a:solidFill>
                <a:schemeClr val="dk1"/>
              </a:solidFill>
              <a:latin typeface="Calibri"/>
              <a:ea typeface="Calibri"/>
              <a:cs typeface="Calibri"/>
              <a:sym typeface="Calibri"/>
            </a:endParaRPr>
          </a:p>
        </p:txBody>
      </p:sp>
      <p:sp>
        <p:nvSpPr>
          <p:cNvPr id="649" name="Google Shape;649;p38"/>
          <p:cNvSpPr/>
          <p:nvPr/>
        </p:nvSpPr>
        <p:spPr>
          <a:xfrm>
            <a:off x="502920" y="1783080"/>
            <a:ext cx="11185855" cy="237744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30"/>
              <a:buFont typeface="Calibri"/>
              <a:buChar char="●"/>
            </a:pPr>
            <a:r>
              <a:rPr b="0" i="0" lang="en-US" sz="1230" u="none" cap="none" strike="noStrike">
                <a:solidFill>
                  <a:srgbClr val="1E1E1E"/>
                </a:solidFill>
                <a:latin typeface="Calibri"/>
                <a:ea typeface="Calibri"/>
                <a:cs typeface="Calibri"/>
                <a:sym typeface="Calibri"/>
              </a:rPr>
              <a:t>Robust Discrimination: XGBoost attained mean test ROC-AUC of 0.961 across seven target rhythm classes.</a:t>
            </a:r>
            <a:endParaRPr b="0" i="0" sz="1230" u="none" cap="none" strike="noStrike">
              <a:solidFill>
                <a:schemeClr val="dk1"/>
              </a:solidFill>
              <a:latin typeface="Calibri"/>
              <a:ea typeface="Calibri"/>
              <a:cs typeface="Calibri"/>
              <a:sym typeface="Calibri"/>
            </a:endParaRPr>
          </a:p>
          <a:p>
            <a:pPr indent="-342900" lvl="0" marL="342900" marR="0" rtl="0" algn="l">
              <a:lnSpc>
                <a:spcPct val="112000"/>
              </a:lnSpc>
              <a:spcBef>
                <a:spcPts val="500"/>
              </a:spcBef>
              <a:spcAft>
                <a:spcPts val="0"/>
              </a:spcAft>
              <a:buClr>
                <a:srgbClr val="1E1E1E"/>
              </a:buClr>
              <a:buSzPts val="1230"/>
              <a:buFont typeface="Calibri"/>
              <a:buChar char="●"/>
            </a:pPr>
            <a:r>
              <a:rPr b="0" i="0" lang="en-US" sz="1230" u="none" cap="none" strike="noStrike">
                <a:solidFill>
                  <a:srgbClr val="1E1E1E"/>
                </a:solidFill>
                <a:latin typeface="Calibri"/>
                <a:ea typeface="Calibri"/>
                <a:cs typeface="Calibri"/>
                <a:sym typeface="Calibri"/>
              </a:rPr>
              <a:t>Sensitivity Recovery: Youden's J threshold tuning recovered detection sensitivity for 1AV (+57.0%), PAC (+47.5%), and BRADY (+40.6%).</a:t>
            </a:r>
            <a:endParaRPr b="0" i="0" sz="1230" u="none" cap="none" strike="noStrike">
              <a:solidFill>
                <a:schemeClr val="dk1"/>
              </a:solidFill>
              <a:latin typeface="Calibri"/>
              <a:ea typeface="Calibri"/>
              <a:cs typeface="Calibri"/>
              <a:sym typeface="Calibri"/>
            </a:endParaRPr>
          </a:p>
          <a:p>
            <a:pPr indent="-342900" lvl="0" marL="342900" marR="0" rtl="0" algn="l">
              <a:lnSpc>
                <a:spcPct val="112000"/>
              </a:lnSpc>
              <a:spcBef>
                <a:spcPts val="500"/>
              </a:spcBef>
              <a:spcAft>
                <a:spcPts val="0"/>
              </a:spcAft>
              <a:buClr>
                <a:srgbClr val="1E1E1E"/>
              </a:buClr>
              <a:buSzPts val="1230"/>
              <a:buFont typeface="Calibri"/>
              <a:buChar char="●"/>
            </a:pPr>
            <a:r>
              <a:rPr b="0" i="0" lang="en-US" sz="1230" u="none" cap="none" strike="noStrike">
                <a:solidFill>
                  <a:srgbClr val="1E1E1E"/>
                </a:solidFill>
                <a:latin typeface="Calibri"/>
                <a:ea typeface="Calibri"/>
                <a:cs typeface="Calibri"/>
                <a:sym typeface="Calibri"/>
              </a:rPr>
              <a:t>Generalization Stability: Patient-stratified splits restricted inter-patient accuracy decay to under 0.023 AUC.</a:t>
            </a:r>
            <a:endParaRPr b="0" i="0" sz="1230" u="none" cap="none" strike="noStrike">
              <a:solidFill>
                <a:schemeClr val="dk1"/>
              </a:solidFill>
              <a:latin typeface="Calibri"/>
              <a:ea typeface="Calibri"/>
              <a:cs typeface="Calibri"/>
              <a:sym typeface="Calibri"/>
            </a:endParaRPr>
          </a:p>
          <a:p>
            <a:pPr indent="-342900" lvl="0" marL="342900" marR="0" rtl="0" algn="l">
              <a:lnSpc>
                <a:spcPct val="112000"/>
              </a:lnSpc>
              <a:spcBef>
                <a:spcPts val="500"/>
              </a:spcBef>
              <a:spcAft>
                <a:spcPts val="0"/>
              </a:spcAft>
              <a:buClr>
                <a:srgbClr val="1E1E1E"/>
              </a:buClr>
              <a:buSzPts val="1230"/>
              <a:buFont typeface="Calibri"/>
              <a:buChar char="●"/>
            </a:pPr>
            <a:r>
              <a:rPr b="0" i="0" lang="en-US" sz="1230" u="none" cap="none" strike="noStrike">
                <a:solidFill>
                  <a:srgbClr val="1E1E1E"/>
                </a:solidFill>
                <a:latin typeface="Calibri"/>
                <a:ea typeface="Calibri"/>
                <a:cs typeface="Calibri"/>
                <a:sym typeface="Calibri"/>
              </a:rPr>
              <a:t>Noise Tolerance Boundary: Stress-testing identified 10 dB SNR as a resilient operational limit for free-living screening (0.806 AUC).</a:t>
            </a:r>
            <a:endParaRPr b="0" i="0" sz="1230" u="none" cap="none" strike="noStrike">
              <a:solidFill>
                <a:schemeClr val="dk1"/>
              </a:solidFill>
              <a:latin typeface="Calibri"/>
              <a:ea typeface="Calibri"/>
              <a:cs typeface="Calibri"/>
              <a:sym typeface="Calibri"/>
            </a:endParaRPr>
          </a:p>
          <a:p>
            <a:pPr indent="-342900" lvl="0" marL="342900" marR="0" rtl="0" algn="l">
              <a:lnSpc>
                <a:spcPct val="112000"/>
              </a:lnSpc>
              <a:spcBef>
                <a:spcPts val="500"/>
              </a:spcBef>
              <a:spcAft>
                <a:spcPts val="0"/>
              </a:spcAft>
              <a:buClr>
                <a:srgbClr val="1E1E1E"/>
              </a:buClr>
              <a:buSzPts val="1230"/>
              <a:buFont typeface="Calibri"/>
              <a:buChar char="●"/>
            </a:pPr>
            <a:r>
              <a:rPr b="0" i="0" lang="en-US" sz="1230" u="none" cap="none" strike="noStrike">
                <a:solidFill>
                  <a:srgbClr val="1E1E1E"/>
                </a:solidFill>
                <a:latin typeface="Calibri"/>
                <a:ea typeface="Calibri"/>
                <a:cs typeface="Calibri"/>
                <a:sym typeface="Calibri"/>
              </a:rPr>
              <a:t>Demographic Parity: Confirmed equitable performance across sex and age cohorts.</a:t>
            </a:r>
            <a:endParaRPr b="0" i="0" sz="1230" u="none" cap="none" strike="noStrike">
              <a:solidFill>
                <a:schemeClr val="dk1"/>
              </a:solidFill>
              <a:latin typeface="Calibri"/>
              <a:ea typeface="Calibri"/>
              <a:cs typeface="Calibri"/>
              <a:sym typeface="Calibri"/>
            </a:endParaRPr>
          </a:p>
        </p:txBody>
      </p:sp>
      <p:sp>
        <p:nvSpPr>
          <p:cNvPr id="650" name="Google Shape;650;p38"/>
          <p:cNvSpPr/>
          <p:nvPr/>
        </p:nvSpPr>
        <p:spPr>
          <a:xfrm>
            <a:off x="502920" y="4343400"/>
            <a:ext cx="11185855" cy="1371600"/>
          </a:xfrm>
          <a:prstGeom prst="roundRect">
            <a:avLst>
              <a:gd fmla="val 4667" name="adj"/>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8"/>
          <p:cNvSpPr/>
          <p:nvPr/>
        </p:nvSpPr>
        <p:spPr>
          <a:xfrm>
            <a:off x="777240" y="4480560"/>
            <a:ext cx="10637215"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250"/>
              <a:buFont typeface="Calibri"/>
              <a:buNone/>
            </a:pPr>
            <a:r>
              <a:rPr b="0" i="1" lang="en-US" sz="1250" u="none" cap="none" strike="noStrike">
                <a:solidFill>
                  <a:srgbClr val="FFFFFF"/>
                </a:solidFill>
                <a:latin typeface="Calibri"/>
                <a:ea typeface="Calibri"/>
                <a:cs typeface="Calibri"/>
                <a:sym typeface="Calibri"/>
              </a:rPr>
              <a:t>Clinical Implications (§5.2): signal-derived feature engineering paired with gradient-boosted decision trees enables accurate, explainable screening directly on single-lead wearable hardware, supporting early arrhythmia identification without requiring 12-lead clinical infrastructure.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9"/>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58" name="Google Shape;658;p39"/>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59" name="Google Shape;659;p39"/>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60" name="Google Shape;660;p39"/>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36</a:t>
            </a:r>
            <a:endParaRPr b="0" i="0" sz="900" u="none" cap="none" strike="noStrike">
              <a:solidFill>
                <a:schemeClr val="dk1"/>
              </a:solidFill>
              <a:latin typeface="Calibri"/>
              <a:ea typeface="Calibri"/>
              <a:cs typeface="Calibri"/>
              <a:sym typeface="Calibri"/>
            </a:endParaRPr>
          </a:p>
        </p:txBody>
      </p:sp>
      <p:sp>
        <p:nvSpPr>
          <p:cNvPr id="661" name="Google Shape;661;p39"/>
          <p:cNvSpPr/>
          <p:nvPr/>
        </p:nvSpPr>
        <p:spPr>
          <a:xfrm>
            <a:off x="502920" y="274320"/>
            <a:ext cx="1949501" cy="292608"/>
          </a:xfrm>
          <a:prstGeom prst="roundRect">
            <a:avLst>
              <a:gd fmla="val 50000" name="adj"/>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9"/>
          <p:cNvSpPr/>
          <p:nvPr/>
        </p:nvSpPr>
        <p:spPr>
          <a:xfrm>
            <a:off x="502920" y="274320"/>
            <a:ext cx="1949501"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70B9"/>
              </a:buClr>
              <a:buSzPts val="1000"/>
              <a:buFont typeface="Calibri"/>
              <a:buNone/>
            </a:pPr>
            <a:r>
              <a:rPr b="1" i="0" lang="en-US" sz="1000" u="none" cap="none" strike="noStrike">
                <a:solidFill>
                  <a:srgbClr val="0070B9"/>
                </a:solidFill>
                <a:latin typeface="Calibri"/>
                <a:ea typeface="Calibri"/>
                <a:cs typeface="Calibri"/>
                <a:sym typeface="Calibri"/>
              </a:rPr>
              <a:t>CONCLUSION · 5.3 / 5.4</a:t>
            </a:r>
            <a:endParaRPr b="0" i="0" sz="1000" u="none" cap="none" strike="noStrike">
              <a:solidFill>
                <a:schemeClr val="dk1"/>
              </a:solidFill>
              <a:latin typeface="Calibri"/>
              <a:ea typeface="Calibri"/>
              <a:cs typeface="Calibri"/>
              <a:sym typeface="Calibri"/>
            </a:endParaRPr>
          </a:p>
        </p:txBody>
      </p:sp>
      <p:sp>
        <p:nvSpPr>
          <p:cNvPr id="663" name="Google Shape;663;p39"/>
          <p:cNvSpPr/>
          <p:nvPr/>
        </p:nvSpPr>
        <p:spPr>
          <a:xfrm>
            <a:off x="502920" y="621792"/>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Methodological Limitations and Future Research</a:t>
            </a:r>
            <a:endParaRPr b="0" i="0" sz="2400" u="none" cap="none" strike="noStrike">
              <a:solidFill>
                <a:schemeClr val="dk1"/>
              </a:solidFill>
              <a:latin typeface="Calibri"/>
              <a:ea typeface="Calibri"/>
              <a:cs typeface="Calibri"/>
              <a:sym typeface="Calibri"/>
            </a:endParaRPr>
          </a:p>
        </p:txBody>
      </p:sp>
      <p:sp>
        <p:nvSpPr>
          <p:cNvPr id="664" name="Google Shape;664;p39"/>
          <p:cNvSpPr/>
          <p:nvPr/>
        </p:nvSpPr>
        <p:spPr>
          <a:xfrm>
            <a:off x="502920" y="146304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400"/>
              <a:buFont typeface="Calibri"/>
              <a:buNone/>
            </a:pPr>
            <a:r>
              <a:rPr b="1" i="0" lang="en-US" sz="1400" u="none" cap="none" strike="noStrike">
                <a:solidFill>
                  <a:srgbClr val="0070B9"/>
                </a:solidFill>
                <a:latin typeface="Calibri"/>
                <a:ea typeface="Calibri"/>
                <a:cs typeface="Calibri"/>
                <a:sym typeface="Calibri"/>
              </a:rPr>
              <a:t>Methodological Limitations (§5.3)</a:t>
            </a:r>
            <a:endParaRPr b="0" i="0" sz="1400" u="none" cap="none" strike="noStrike">
              <a:solidFill>
                <a:schemeClr val="dk1"/>
              </a:solidFill>
              <a:latin typeface="Calibri"/>
              <a:ea typeface="Calibri"/>
              <a:cs typeface="Calibri"/>
              <a:sym typeface="Calibri"/>
            </a:endParaRPr>
          </a:p>
        </p:txBody>
      </p:sp>
      <p:sp>
        <p:nvSpPr>
          <p:cNvPr id="665" name="Google Shape;665;p39"/>
          <p:cNvSpPr/>
          <p:nvPr/>
        </p:nvSpPr>
        <p:spPr>
          <a:xfrm>
            <a:off x="502920" y="1828800"/>
            <a:ext cx="5394960" cy="237744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Peak Detection Proxies: waveform proxies rely on peak-prominence filters rather than full multi-channel wave delineation algorithms.</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Single Dataset Scope: testing was restricted to PTB-XL records; external clinical trial validation is recommended prior to deployment.</a:t>
            </a:r>
            <a:endParaRPr b="0" i="0" sz="1250" u="none" cap="none" strike="noStrike">
              <a:solidFill>
                <a:schemeClr val="dk1"/>
              </a:solidFill>
              <a:latin typeface="Calibri"/>
              <a:ea typeface="Calibri"/>
              <a:cs typeface="Calibri"/>
              <a:sym typeface="Calibri"/>
            </a:endParaRPr>
          </a:p>
        </p:txBody>
      </p:sp>
      <p:sp>
        <p:nvSpPr>
          <p:cNvPr id="666" name="Google Shape;666;p39"/>
          <p:cNvSpPr/>
          <p:nvPr/>
        </p:nvSpPr>
        <p:spPr>
          <a:xfrm>
            <a:off x="6263640" y="146304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70B9"/>
              </a:buClr>
              <a:buSzPts val="1400"/>
              <a:buFont typeface="Calibri"/>
              <a:buNone/>
            </a:pPr>
            <a:r>
              <a:rPr b="1" i="0" lang="en-US" sz="1400" u="none" cap="none" strike="noStrike">
                <a:solidFill>
                  <a:srgbClr val="0070B9"/>
                </a:solidFill>
                <a:latin typeface="Calibri"/>
                <a:ea typeface="Calibri"/>
                <a:cs typeface="Calibri"/>
                <a:sym typeface="Calibri"/>
              </a:rPr>
              <a:t>Future Research (§5.4)</a:t>
            </a:r>
            <a:endParaRPr b="0" i="0" sz="1400" u="none" cap="none" strike="noStrike">
              <a:solidFill>
                <a:schemeClr val="dk1"/>
              </a:solidFill>
              <a:latin typeface="Calibri"/>
              <a:ea typeface="Calibri"/>
              <a:cs typeface="Calibri"/>
              <a:sym typeface="Calibri"/>
            </a:endParaRPr>
          </a:p>
        </p:txBody>
      </p:sp>
      <p:sp>
        <p:nvSpPr>
          <p:cNvPr id="667" name="Google Shape;667;p39"/>
          <p:cNvSpPr/>
          <p:nvPr/>
        </p:nvSpPr>
        <p:spPr>
          <a:xfrm>
            <a:off x="6263640" y="1828800"/>
            <a:ext cx="5394960" cy="237744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Optimize trained XGBoost models into ONNX or TensorFlow Lite micro formats for real-time edge execution on smartwatch processors.</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700"/>
              </a:spcBef>
              <a:spcAft>
                <a:spcPts val="0"/>
              </a:spcAft>
              <a:buClr>
                <a:srgbClr val="1E1E1E"/>
              </a:buClr>
              <a:buSzPts val="1250"/>
              <a:buFont typeface="Calibri"/>
              <a:buChar char="●"/>
            </a:pPr>
            <a:r>
              <a:rPr b="0" i="0" lang="en-US" sz="1250" u="none" cap="none" strike="noStrike">
                <a:solidFill>
                  <a:srgbClr val="1E1E1E"/>
                </a:solidFill>
                <a:latin typeface="Calibri"/>
                <a:ea typeface="Calibri"/>
                <a:cs typeface="Calibri"/>
                <a:sym typeface="Calibri"/>
              </a:rPr>
              <a:t>Benchmark against 1D ResNet neural feature learning as an alternative to hand-engineered features.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40"/>
          <p:cNvSpPr/>
          <p:nvPr/>
        </p:nvSpPr>
        <p:spPr>
          <a:xfrm>
            <a:off x="0" y="6446520"/>
            <a:ext cx="12191695" cy="411480"/>
          </a:xfrm>
          <a:prstGeom prst="rect">
            <a:avLst/>
          </a:prstGeom>
          <a:solidFill>
            <a:srgbClr val="003B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_usd.png" id="674" name="Google Shape;674;p40"/>
          <p:cNvPicPr preferRelativeResize="0"/>
          <p:nvPr/>
        </p:nvPicPr>
        <p:blipFill rotWithShape="1">
          <a:blip r:embed="rId3">
            <a:alphaModFix/>
          </a:blip>
          <a:srcRect b="0" l="0" r="0" t="0"/>
          <a:stretch/>
        </p:blipFill>
        <p:spPr>
          <a:xfrm>
            <a:off x="365760" y="6505956"/>
            <a:ext cx="1408176" cy="292608"/>
          </a:xfrm>
          <a:prstGeom prst="rect">
            <a:avLst/>
          </a:prstGeom>
          <a:noFill/>
          <a:ln>
            <a:noFill/>
          </a:ln>
        </p:spPr>
      </p:pic>
      <p:sp>
        <p:nvSpPr>
          <p:cNvPr id="675" name="Google Shape;675;p40"/>
          <p:cNvSpPr/>
          <p:nvPr/>
        </p:nvSpPr>
        <p:spPr>
          <a:xfrm>
            <a:off x="6858000" y="6446520"/>
            <a:ext cx="457200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AAI-501 · Cardiac Arrhythmia Classification</a:t>
            </a:r>
            <a:endParaRPr b="0" i="0" sz="900" u="none" cap="none" strike="noStrike">
              <a:solidFill>
                <a:schemeClr val="dk1"/>
              </a:solidFill>
              <a:latin typeface="Calibri"/>
              <a:ea typeface="Calibri"/>
              <a:cs typeface="Calibri"/>
              <a:sym typeface="Calibri"/>
            </a:endParaRPr>
          </a:p>
        </p:txBody>
      </p:sp>
      <p:sp>
        <p:nvSpPr>
          <p:cNvPr id="676" name="Google Shape;676;p40"/>
          <p:cNvSpPr/>
          <p:nvPr/>
        </p:nvSpPr>
        <p:spPr>
          <a:xfrm>
            <a:off x="11795760" y="6446520"/>
            <a:ext cx="36576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37</a:t>
            </a:r>
            <a:endParaRPr b="0" i="0" sz="900" u="none" cap="none" strike="noStrike">
              <a:solidFill>
                <a:schemeClr val="dk1"/>
              </a:solidFill>
              <a:latin typeface="Calibri"/>
              <a:ea typeface="Calibri"/>
              <a:cs typeface="Calibri"/>
              <a:sym typeface="Calibri"/>
            </a:endParaRPr>
          </a:p>
        </p:txBody>
      </p:sp>
      <p:sp>
        <p:nvSpPr>
          <p:cNvPr id="677" name="Google Shape;677;p40"/>
          <p:cNvSpPr/>
          <p:nvPr/>
        </p:nvSpPr>
        <p:spPr>
          <a:xfrm>
            <a:off x="502920" y="411480"/>
            <a:ext cx="11185855"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3B70"/>
              </a:buClr>
              <a:buSzPts val="2400"/>
              <a:buFont typeface="Cambria"/>
              <a:buNone/>
            </a:pPr>
            <a:r>
              <a:rPr b="1" i="0" lang="en-US" sz="2400" u="none" cap="none" strike="noStrike">
                <a:solidFill>
                  <a:srgbClr val="003B70"/>
                </a:solidFill>
                <a:latin typeface="Cambria"/>
                <a:ea typeface="Cambria"/>
                <a:cs typeface="Cambria"/>
                <a:sym typeface="Cambria"/>
              </a:rPr>
              <a:t>References</a:t>
            </a:r>
            <a:endParaRPr b="0" i="0" sz="2400" u="none" cap="none" strike="noStrike">
              <a:solidFill>
                <a:schemeClr val="dk1"/>
              </a:solidFill>
              <a:latin typeface="Calibri"/>
              <a:ea typeface="Calibri"/>
              <a:cs typeface="Calibri"/>
              <a:sym typeface="Calibri"/>
            </a:endParaRPr>
          </a:p>
        </p:txBody>
      </p:sp>
      <p:sp>
        <p:nvSpPr>
          <p:cNvPr id="678" name="Google Shape;678;p40"/>
          <p:cNvSpPr/>
          <p:nvPr/>
        </p:nvSpPr>
        <p:spPr>
          <a:xfrm>
            <a:off x="502920" y="1463040"/>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De Chazal, P., O'Dwyer, M., &amp; Reilly, R. B. (2004). Automatic classification of heartbeats using ECG morphology and heartbeat intervals. IEEE Transactions on Biomedical Engineering, 51(7), 1196–1206. https://doi.org/10.1109/TBME.2004.827359</a:t>
            </a:r>
            <a:endParaRPr b="0" i="0" sz="1100" u="none" cap="none" strike="noStrike">
              <a:solidFill>
                <a:schemeClr val="dk1"/>
              </a:solidFill>
              <a:latin typeface="Calibri"/>
              <a:ea typeface="Calibri"/>
              <a:cs typeface="Calibri"/>
              <a:sym typeface="Calibri"/>
            </a:endParaRPr>
          </a:p>
        </p:txBody>
      </p:sp>
      <p:sp>
        <p:nvSpPr>
          <p:cNvPr id="679" name="Google Shape;679;p40"/>
          <p:cNvSpPr/>
          <p:nvPr/>
        </p:nvSpPr>
        <p:spPr>
          <a:xfrm>
            <a:off x="502920" y="2304288"/>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Pan, J., &amp; Tompkins, W. J. (1985). A real-time QRS detection algorithm. IEEE Transactions on Biomedical Engineering, 32(3), 230–236. https://doi.org/10.1109/TBME.1985.325532</a:t>
            </a:r>
            <a:endParaRPr b="0" i="0" sz="1100" u="none" cap="none" strike="noStrike">
              <a:solidFill>
                <a:schemeClr val="dk1"/>
              </a:solidFill>
              <a:latin typeface="Calibri"/>
              <a:ea typeface="Calibri"/>
              <a:cs typeface="Calibri"/>
              <a:sym typeface="Calibri"/>
            </a:endParaRPr>
          </a:p>
        </p:txBody>
      </p:sp>
      <p:sp>
        <p:nvSpPr>
          <p:cNvPr id="680" name="Google Shape;680;p40"/>
          <p:cNvSpPr/>
          <p:nvPr/>
        </p:nvSpPr>
        <p:spPr>
          <a:xfrm>
            <a:off x="502920" y="3145536"/>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Platt, J. (1999). Probabilistic outputs for support vector machines and comparisons to regularized likelihood methods. Advances in Large Margin Classifiers, 10(3), 61–74.</a:t>
            </a:r>
            <a:endParaRPr b="0" i="0" sz="1100" u="none" cap="none" strike="noStrike">
              <a:solidFill>
                <a:schemeClr val="dk1"/>
              </a:solidFill>
              <a:latin typeface="Calibri"/>
              <a:ea typeface="Calibri"/>
              <a:cs typeface="Calibri"/>
              <a:sym typeface="Calibri"/>
            </a:endParaRPr>
          </a:p>
        </p:txBody>
      </p:sp>
      <p:sp>
        <p:nvSpPr>
          <p:cNvPr id="681" name="Google Shape;681;p40"/>
          <p:cNvSpPr/>
          <p:nvPr/>
        </p:nvSpPr>
        <p:spPr>
          <a:xfrm>
            <a:off x="502920" y="3986784"/>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Sadiq, M. T., et al. (2025). Cardiac arrhythmia classification from Lead I ECG recorded in a free-living environment. IEEE Journal of Biomedical and Health Informatics. https://doi.org/10.1109/JBHI.2025.11259110</a:t>
            </a:r>
            <a:endParaRPr b="0" i="0" sz="1100" u="none" cap="none" strike="noStrike">
              <a:solidFill>
                <a:schemeClr val="dk1"/>
              </a:solidFill>
              <a:latin typeface="Calibri"/>
              <a:ea typeface="Calibri"/>
              <a:cs typeface="Calibri"/>
              <a:sym typeface="Calibri"/>
            </a:endParaRPr>
          </a:p>
        </p:txBody>
      </p:sp>
      <p:sp>
        <p:nvSpPr>
          <p:cNvPr id="682" name="Google Shape;682;p40"/>
          <p:cNvSpPr/>
          <p:nvPr/>
        </p:nvSpPr>
        <p:spPr>
          <a:xfrm>
            <a:off x="502920" y="4828032"/>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Wagner, P., Strodthoff, N., Bousseljot, R. D., Kreiseler, D., Lunze, F. I., Samek, W., &amp; Schaeffter, T. (2020). PTB-XL, a large publicly available electrocardiography dataset. Scientific Data, 7(1), Article 154. https://doi.org/10.1038/s41597-020-0495-6</a:t>
            </a:r>
            <a:endParaRPr b="0" i="0" sz="1100" u="none" cap="none" strike="noStrike">
              <a:solidFill>
                <a:schemeClr val="dk1"/>
              </a:solidFill>
              <a:latin typeface="Calibri"/>
              <a:ea typeface="Calibri"/>
              <a:cs typeface="Calibri"/>
              <a:sym typeface="Calibri"/>
            </a:endParaRPr>
          </a:p>
        </p:txBody>
      </p:sp>
      <p:sp>
        <p:nvSpPr>
          <p:cNvPr id="683" name="Google Shape;683;p40"/>
          <p:cNvSpPr/>
          <p:nvPr/>
        </p:nvSpPr>
        <p:spPr>
          <a:xfrm>
            <a:off x="502920" y="5669280"/>
            <a:ext cx="11185855" cy="7772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1E1E"/>
              </a:buClr>
              <a:buSzPts val="1100"/>
              <a:buFont typeface="Calibri"/>
              <a:buNone/>
            </a:pPr>
            <a:r>
              <a:rPr b="0" i="0" lang="en-US" sz="1100" u="none" cap="none" strike="noStrike">
                <a:solidFill>
                  <a:srgbClr val="1E1E1E"/>
                </a:solidFill>
                <a:latin typeface="Calibri"/>
                <a:ea typeface="Calibri"/>
                <a:cs typeface="Calibri"/>
                <a:sym typeface="Calibri"/>
              </a:rPr>
              <a:t>Youden, W. J. (1950). Index for rating diagnostic tests. Cancer, 3(1), 32–35.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B70"/>
        </a:solidFill>
      </p:bgPr>
    </p:bg>
    <p:spTree>
      <p:nvGrpSpPr>
        <p:cNvPr id="688" name="Shape 688"/>
        <p:cNvGrpSpPr/>
        <p:nvPr/>
      </p:nvGrpSpPr>
      <p:grpSpPr>
        <a:xfrm>
          <a:off x="0" y="0"/>
          <a:ext cx="0" cy="0"/>
          <a:chOff x="0" y="0"/>
          <a:chExt cx="0" cy="0"/>
        </a:xfrm>
      </p:grpSpPr>
      <p:pic>
        <p:nvPicPr>
          <p:cNvPr descr="A sophisticated, dark blue abstract digital background with clean, subtle glowing network connections, minimal technology nodes, and professional gradients, designed for a high-end academic and AI presentation" id="689" name="Google Shape;689;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90" name="Google Shape;690;p41"/>
          <p:cNvSpPr txBox="1"/>
          <p:nvPr/>
        </p:nvSpPr>
        <p:spPr>
          <a:xfrm>
            <a:off x="1333500" y="1047750"/>
            <a:ext cx="9525000" cy="1333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200">
                <a:solidFill>
                  <a:srgbClr val="FFFFFF"/>
                </a:solidFill>
                <a:latin typeface="Cambria"/>
                <a:ea typeface="Cambria"/>
                <a:cs typeface="Cambria"/>
                <a:sym typeface="Cambria"/>
              </a:rPr>
              <a:t>Thank You</a:t>
            </a:r>
            <a:endParaRPr b="1" sz="5200">
              <a:solidFill>
                <a:srgbClr val="FFFFFF"/>
              </a:solidFill>
              <a:latin typeface="Cambria"/>
              <a:ea typeface="Cambria"/>
              <a:cs typeface="Cambria"/>
              <a:sym typeface="Cambria"/>
            </a:endParaRPr>
          </a:p>
          <a:p>
            <a:pPr indent="0" lvl="0" marL="0" rtl="0" algn="ctr">
              <a:spcBef>
                <a:spcPts val="600"/>
              </a:spcBef>
              <a:spcAft>
                <a:spcPts val="0"/>
              </a:spcAft>
              <a:buNone/>
            </a:pPr>
            <a:r>
              <a:rPr b="0" lang="en-US" sz="2200">
                <a:solidFill>
                  <a:srgbClr val="71BEFF"/>
                </a:solidFill>
                <a:latin typeface="Calibri"/>
                <a:ea typeface="Calibri"/>
                <a:cs typeface="Calibri"/>
                <a:sym typeface="Calibri"/>
              </a:rPr>
              <a:t>Questions &amp; Discussion</a:t>
            </a:r>
            <a:endParaRPr b="0" sz="2200">
              <a:solidFill>
                <a:srgbClr val="71BEFF"/>
              </a:solidFill>
              <a:latin typeface="Calibri"/>
              <a:ea typeface="Calibri"/>
              <a:cs typeface="Calibri"/>
              <a:sym typeface="Calibri"/>
            </a:endParaRPr>
          </a:p>
        </p:txBody>
      </p:sp>
      <p:sp>
        <p:nvSpPr>
          <p:cNvPr id="691" name="Google Shape;691;p41"/>
          <p:cNvSpPr/>
          <p:nvPr/>
        </p:nvSpPr>
        <p:spPr>
          <a:xfrm>
            <a:off x="2286000" y="2667000"/>
            <a:ext cx="7620000" cy="1238400"/>
          </a:xfrm>
          <a:prstGeom prst="roundRect">
            <a:avLst>
              <a:gd fmla="val 9230" name="adj"/>
            </a:avLst>
          </a:prstGeom>
          <a:solidFill>
            <a:srgbClr val="001F3D">
              <a:alpha val="85000"/>
            </a:srgbClr>
          </a:solidFill>
          <a:ln cap="flat" cmpd="sng" w="14300">
            <a:solidFill>
              <a:srgbClr val="0070B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41"/>
          <p:cNvSpPr txBox="1"/>
          <p:nvPr/>
        </p:nvSpPr>
        <p:spPr>
          <a:xfrm>
            <a:off x="2286000" y="2667000"/>
            <a:ext cx="7620000" cy="1238400"/>
          </a:xfrm>
          <a:prstGeom prst="rect">
            <a:avLst/>
          </a:prstGeom>
          <a:noFill/>
          <a:ln>
            <a:noFill/>
          </a:ln>
        </p:spPr>
        <p:txBody>
          <a:bodyPr anchorCtr="0" anchor="ctr" bIns="95250" lIns="285750" spcFirstLastPara="1" rIns="285750" wrap="square" tIns="95250">
            <a:noAutofit/>
          </a:bodyPr>
          <a:lstStyle/>
          <a:p>
            <a:pPr indent="0" lvl="0" marL="0" rtl="0" algn="ctr">
              <a:spcBef>
                <a:spcPts val="0"/>
              </a:spcBef>
              <a:spcAft>
                <a:spcPts val="0"/>
              </a:spcAft>
              <a:buNone/>
            </a:pPr>
            <a:r>
              <a:rPr b="1" lang="en-US" sz="1100">
                <a:solidFill>
                  <a:srgbClr val="71BEFF"/>
                </a:solidFill>
                <a:latin typeface="Calibri"/>
                <a:ea typeface="Calibri"/>
                <a:cs typeface="Calibri"/>
                <a:sym typeface="Calibri"/>
              </a:rPr>
              <a:t>Code, Data Pipeline &amp; Full Report</a:t>
            </a:r>
            <a:endParaRPr b="1" sz="1100">
              <a:solidFill>
                <a:srgbClr val="71BEFF"/>
              </a:solidFill>
              <a:latin typeface="Calibri"/>
              <a:ea typeface="Calibri"/>
              <a:cs typeface="Calibri"/>
              <a:sym typeface="Calibri"/>
            </a:endParaRPr>
          </a:p>
          <a:p>
            <a:pPr indent="0" lvl="0" marL="0" rtl="0" algn="ctr">
              <a:spcBef>
                <a:spcPts val="600"/>
              </a:spcBef>
              <a:spcAft>
                <a:spcPts val="0"/>
              </a:spcAft>
              <a:buNone/>
            </a:pPr>
            <a:r>
              <a:rPr b="1" lang="en-US" sz="1800">
                <a:solidFill>
                  <a:srgbClr val="FFFFFF"/>
                </a:solidFill>
                <a:latin typeface="Consolas"/>
                <a:ea typeface="Consolas"/>
                <a:cs typeface="Consolas"/>
                <a:sym typeface="Consolas"/>
              </a:rPr>
              <a:t>github.com/abhairwal-usd/intro_ai_ml_aai501</a:t>
            </a:r>
            <a:endParaRPr b="1" sz="1800">
              <a:solidFill>
                <a:srgbClr val="FFFFFF"/>
              </a:solidFill>
              <a:latin typeface="Consolas"/>
              <a:ea typeface="Consolas"/>
              <a:cs typeface="Consolas"/>
              <a:sym typeface="Consolas"/>
            </a:endParaRPr>
          </a:p>
        </p:txBody>
      </p:sp>
      <p:sp>
        <p:nvSpPr>
          <p:cNvPr id="693" name="Google Shape;693;p41"/>
          <p:cNvSpPr txBox="1"/>
          <p:nvPr/>
        </p:nvSpPr>
        <p:spPr>
          <a:xfrm>
            <a:off x="1333500" y="4191000"/>
            <a:ext cx="9525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400">
                <a:solidFill>
                  <a:srgbClr val="FFFFFF"/>
                </a:solidFill>
                <a:latin typeface="Calibri"/>
                <a:ea typeface="Calibri"/>
                <a:cs typeface="Calibri"/>
                <a:sym typeface="Calibri"/>
              </a:rPr>
              <a:t>Ashok Bhairwal Diaesh Antony N L N Sai Krishna Akula</a:t>
            </a:r>
            <a:endParaRPr b="0" sz="1400">
              <a:solidFill>
                <a:srgbClr val="FFFFFF"/>
              </a:solidFill>
              <a:latin typeface="Calibri"/>
              <a:ea typeface="Calibri"/>
              <a:cs typeface="Calibri"/>
              <a:sym typeface="Calibri"/>
            </a:endParaRPr>
          </a:p>
          <a:p>
            <a:pPr indent="0" lvl="0" marL="0" rtl="0" algn="ctr">
              <a:spcBef>
                <a:spcPts val="600"/>
              </a:spcBef>
              <a:spcAft>
                <a:spcPts val="0"/>
              </a:spcAft>
              <a:buNone/>
            </a:pPr>
            <a:r>
              <a:rPr b="0" lang="en-US" sz="1100">
                <a:solidFill>
                  <a:srgbClr val="8CACC6"/>
                </a:solidFill>
                <a:latin typeface="Calibri"/>
                <a:ea typeface="Calibri"/>
                <a:cs typeface="Calibri"/>
                <a:sym typeface="Calibri"/>
              </a:rPr>
              <a:t>AAI-501 University of San Diego</a:t>
            </a:r>
            <a:endParaRPr b="0" sz="1100">
              <a:solidFill>
                <a:srgbClr val="8CACC6"/>
              </a:solidFill>
              <a:latin typeface="Calibri"/>
              <a:ea typeface="Calibri"/>
              <a:cs typeface="Calibri"/>
              <a:sym typeface="Calibri"/>
            </a:endParaRPr>
          </a:p>
        </p:txBody>
      </p:sp>
      <p:pic>
        <p:nvPicPr>
          <p:cNvPr id="694" name="Google Shape;694;p41"/>
          <p:cNvPicPr preferRelativeResize="0"/>
          <p:nvPr/>
        </p:nvPicPr>
        <p:blipFill rotWithShape="1">
          <a:blip r:embed="rId4">
            <a:alphaModFix/>
          </a:blip>
          <a:srcRect b="0" l="40" r="40" t="0"/>
          <a:stretch/>
        </p:blipFill>
        <p:spPr>
          <a:xfrm>
            <a:off x="5135880" y="5429250"/>
            <a:ext cx="1920300" cy="399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